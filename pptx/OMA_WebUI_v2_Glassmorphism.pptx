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Oracle Migration Accelerator WebUI v2 현황을 공유드리겠습니다.</a:t>
            </a:r>
          </a:p>
          <a:p>
            <a:r>
              <a:t>OMA는 Oracle에서 PostgreSQL로의 마이그레이션을 가속하는 통합 UI입니다.</a:t>
            </a:r>
          </a:p>
          <a:p>
            <a:r>
              <a:t>현재 25개 페이지, 23개 기능, 4개 통합 문서가 완성된 상태입니다.</a:t>
            </a:r>
          </a:p>
          <a:p>
            <a:r>
              <a:t>약 10분간 구현된 기능과 앞으로의 작업에 대해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왜 이 도구가 필요한지 말씀드리겠습니다.</a:t>
            </a:r>
          </a:p>
          <a:p>
            <a:r>
              <a:t>AWS DMS Schema Conversion의 자동 변환율은 약 65%입니다. 나머지 35%는 AI 에이전트와 수동 검토가 필요합니다.</a:t>
            </a:r>
          </a:p>
          <a:p>
            <a:r>
              <a:t>또한 MyBatis XML 내 Oracle 특화 SQL이 수백에서 수천 건 있는데, 이를 변환할 별도 도구가 없었습니다.</a:t>
            </a:r>
          </a:p>
          <a:p>
            <a:r>
              <a:t>OMA WebUI는 이 3단계 — DB 스키마, 앱 SQL, 데이터 복제 — 를 하나의 UI에서 통합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아키텍처입니다. 프론트엔드는 React 18 기반이고, 백엔드는 2개로 나뉩니다.</a:t>
            </a:r>
          </a:p>
          <a:p>
            <a:r>
              <a:t>OMA_Strands_Graph는 DB/데이터 마이그레이션을 담당하는 FastAPI 서버이고,</a:t>
            </a:r>
          </a:p>
          <a:p>
            <a:r>
              <a:t>strands-oracle-migration은 앱 SQL 변환을 담당하는데 현재 CLI만 있어서 FastAPI 래퍼가 필요합니다.</a:t>
            </a:r>
          </a:p>
          <a:p>
            <a:r>
              <a:t>ALB path-based routing으로 /api/db는 8000번, /api/app은 8001번으로 분기합니다.</a:t>
            </a:r>
          </a:p>
          <a:p>
            <a:r>
              <a:t>BFF는 채택하지 않았습니다. 현재 규모에서는 백엔드 직접 수정이 더 빠르고 비용 효율적입니다.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프로젝트를 나눈 핵심 이유는, Oracle DB에 테이블이 수천 개일 때 300개씩 잘라서 병렬로 마이그레이션하기 위해서입니다.</a:t>
            </a:r>
          </a:p>
          <a:p>
            <a:r>
              <a:t>루트 페이지에서 프로젝트 목록을 카드 그리드로 보고, 프로젝트를 생성할 때 2단계를 거칩니다.</a:t>
            </a:r>
          </a:p>
          <a:p>
            <a:r>
              <a:t>Step 1에서 이름과 기능 프리셋을 선택하고, Step 2에서 마이그레이션할 테이블 범위를 선택합니다.</a:t>
            </a:r>
          </a:p>
          <a:p>
            <a:r>
              <a:t>전체, 스키마 단위, 개별 테이블 단위로 선택 가능합니다.</a:t>
            </a:r>
          </a:p>
          <a:p>
            <a:r>
              <a:t>프로젝트에 진입하면 DB 설정, 기능 토글, 마이그레이션 상태가 모두 독립적으로 관리됩니다.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기능이 23개로 많아서 사용자가 헷갈릴 수 있다는 피드백이 있었습니다.</a:t>
            </a:r>
          </a:p>
          <a:p>
            <a:r>
              <a:t>이를 해결하기 위해 3단계 프리셋을 만들었습니다.</a:t>
            </a:r>
          </a:p>
          <a:p>
            <a:r>
              <a:t>Basic은 10개 필수 기능만, Standard는 17개로 디버깅 도구 포함, Advanced는 23개 전체입니다.</a:t>
            </a:r>
          </a:p>
          <a:p>
            <a:r>
              <a:t>프로젝트별로 프리셋이 독립 적용되고, 개별 토글도 가능합니다.</a:t>
            </a:r>
          </a:p>
          <a:p>
            <a:r>
              <a:t>비활성 기능은 사이드바에서 자동으로 숨겨지고, URL로 직접 접근하면 안내 페이지가 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 마이그레이션은 6단계 파이프라인입니다.</a:t>
            </a:r>
          </a:p>
          <a:p>
            <a:r>
              <a:t>앞 4단계가 스키마 변환이고, 뒤 2단계가 데이터 복제 설정입니다.</a:t>
            </a:r>
          </a:p>
          <a:p>
            <a:r>
              <a:t>Step 1-2는 AWS DMS 네이티브, Step 3-4는 OMA가 확장한 기능입니다.</a:t>
            </a:r>
          </a:p>
          <a:p>
            <a:r>
              <a:t>UI에서는 각 단계 옆에 배지로 출처를 구분합니다.</a:t>
            </a:r>
          </a:p>
          <a:p>
            <a:r>
              <a:t>Assessment 결과는 변환 완료와 실패, 2개 상태만 있습니다.</a:t>
            </a:r>
          </a:p>
          <a:p>
            <a:r>
              <a:t>실패 항목은 AI 에이전트 페이지로 넘겨서 최대 3회 리트라이합니다.</a:t>
            </a:r>
          </a:p>
          <a:p>
            <a:r>
              <a:t>Evaluator 점수가 80점 미만이면 리트라이하고, 횟수를 초과하면 최종 실패로 수동 검토 대상이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앱 마이그레이션은 7단계입니다.</a:t>
            </a:r>
          </a:p>
          <a:p>
            <a:r>
              <a:t>핵심은 Step 2의 SQL 추출인데, 기존 정적 XML 파싱에 더해 런타임 로그 수집 기능을 추가했습니다.</a:t>
            </a:r>
          </a:p>
          <a:p>
            <a:r>
              <a:t>몽키테스트나 실제 서비스 로그에서 AOP/Interceptor로 실행된 SQL을 수집하면,</a:t>
            </a:r>
          </a:p>
          <a:p>
            <a:r>
              <a:t>정적 분석으로는 잡히지 않는 동적 SQL 패턴까지 커버할 수 있습니다.</a:t>
            </a:r>
          </a:p>
          <a:p>
            <a:r>
              <a:t>Step 4에서 AI 에이전트가 Oracle SQL을 PostgreSQL로 변환하고,</a:t>
            </a:r>
          </a:p>
          <a:p>
            <a:r>
              <a:t>실패하면 Manual Review 페이지로 연결되는 CTA 버튼이 있습니다.</a:t>
            </a:r>
          </a:p>
          <a:p>
            <a:r>
              <a:t>대표적 변환 예시로 NVL은 COALESCE로, CONNECT BY는 WITH RECURSIVE로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UX 개선은 크게 5가지입니다.</a:t>
            </a:r>
          </a:p>
          <a:p>
            <a:r>
              <a:t>첫째, 각 기능 페이지 상단에 워크플로우 위치를 Step X/10 형태로 표시합니다.</a:t>
            </a:r>
          </a:p>
          <a:p>
            <a:r>
              <a:t>둘째, 첫 방문 시 온보딩 모달로 필수 설정 3단계를 안내합니다.</a:t>
            </a:r>
          </a:p>
          <a:p>
            <a:r>
              <a:t>셋째, 프로젝트 설정에서 마이그레이션 범위를 조회하고 수정할 수 있습니다.</a:t>
            </a:r>
          </a:p>
          <a:p>
            <a:r>
              <a:t>넷째, LiteLLM 스타일 디자인을 적용해서 compact하고 professional한 느낌으로 바꿨습니다.</a:t>
            </a:r>
          </a:p>
          <a:p>
            <a:r>
              <a:t>다섯째, 라이트 모드에서 빨간 배지의 글자가 안 보이던 문제를 수정했습니다.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프론트엔드는 83개 API를 필요로 하는데, 백엔드는 11개만 제공합니다. 72개 갭이 있습니다.</a:t>
            </a:r>
          </a:p>
          <a:p>
            <a:r>
              <a:t>가장 큰 갭은 앱 마이그레이션 24개 endpoint입니다. CLI만 있어서 FastAPI 래퍼를 새로 만들어야 합니다.</a:t>
            </a:r>
          </a:p>
          <a:p>
            <a:r>
              <a:t>프로젝트 관리 19개는 현재 localStorage로 Mock 처리 중이고, MVP에서는 이대로 유지할 수 있습니다.</a:t>
            </a:r>
          </a:p>
          <a:p>
            <a:r>
              <a:t>총 노력은 56일, 2명 기준 약 7주입니다. P0 필수만 해도 26일입니다.</a:t>
            </a:r>
          </a:p>
          <a:p>
            <a:r>
              <a:t>이 내용은 docs 하위 4개 문서에 상세히 정리되어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통합 로드맵은 5단계, 총 7주입니다.</a:t>
            </a:r>
          </a:p>
          <a:p>
            <a:r>
              <a:t>Phase 1에서 API 클라이언트와 테이블 카탈로그 API를 구축하면 첫 End-to-End 데모가 가능합니다.</a:t>
            </a:r>
          </a:p>
          <a:p>
            <a:r>
              <a:t>Phase 2에서 DMS 파이프라인과 AI 에이전트 실시간 연동을 합니다.</a:t>
            </a:r>
          </a:p>
          <a:p>
            <a:r>
              <a:t>Phase 3이 최대 리스크입니다. strands-oracle-migration CLI를 FastAPI로 래핑해야 하는데, 24개 endpoint가 필요합니다.</a:t>
            </a:r>
          </a:p>
          <a:p>
            <a:r>
              <a:t>Phase 4-5는 병렬로 진행 가능하고, 도구와 설정 연동은 상대적으로 단순합니다.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 스택입니다.</a:t>
            </a:r>
          </a:p>
          <a:p>
            <a:r>
              <a:t>프론트엔드는 React 18에 Vite로 빌드하면 1초 이내입니다.</a:t>
            </a:r>
          </a:p>
          <a:p>
            <a:r>
              <a:t>백엔드는 FastAPI 기반과 CLI 기반 2개이고, AI는 Amazon Bedrock의 Claude Sonnet을 사용합니다.</a:t>
            </a:r>
          </a:p>
          <a:p>
            <a:r>
              <a:t>산출물로는 25개 페이지 프론트엔드, 프로젝트 관리 시스템, 기능 토글, 4개 통합 문서가 있고</a:t>
            </a:r>
          </a:p>
          <a:p>
            <a:r>
              <a:t>GitHub Private Repo에 모두 관리되고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이상으로 OMA WebUI v2 현황 공유를 마치겠습니다.</a:t>
            </a:r>
          </a:p>
          <a:p>
            <a:r>
              <a:t>즉시 가능한 액션으로는 Phase 1 착수, OMA_Strands_Graph에 프론트 전용 endpoint 추가,</a:t>
            </a:r>
          </a:p>
          <a:p>
            <a:r>
              <a:t>그리고 strands-oracle-migration FastAPI 래퍼 설계 시작이 있습니다.</a:t>
            </a:r>
          </a:p>
          <a:p>
            <a:r>
              <a:t>논의 포인트로는 프로젝트 관리 저장소 전환 시점, FastAPI 래퍼 담당 팀,</a:t>
            </a:r>
          </a:p>
          <a:p>
            <a:r>
              <a:t>배포 환경과 인증 방식에 대해 의견을 구하고 싶습니다.</a:t>
            </a:r>
          </a:p>
          <a:p>
            <a:r>
              <a:t>질문 있으시면 말씀해주세요. 다음 슬라이드부터는 Appendix로, 상세 질문 시 참고용입니다.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A] 두 백엔드 비교입니다.</a:t>
            </a:r>
          </a:p>
          <a:p>
            <a:r>
              <a:t>OMA_Strands_Graph는 FastAPI로 11개 API와 WebSocket을 제공하고,</a:t>
            </a:r>
          </a:p>
          <a:p>
            <a:r>
              <a:t>strands-oracle-migration은 CLI만 있어서 HTTP API가 전혀 없습니다.</a:t>
            </a:r>
          </a:p>
          <a:p>
            <a:r>
              <a:t>두 백엔드를 합치지 않은 이유는 역할이 다르기 때문입니다.</a:t>
            </a:r>
          </a:p>
          <a:p>
            <a:r>
              <a:t>DB 스키마 변환과 앱 SQL 변환은 완전히 다른 파이프라인이고,</a:t>
            </a:r>
          </a:p>
          <a:p>
            <a:r>
              <a:t>ALB에서 path 기반으로 라우팅하면 프론트에서는 하나처럼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B] 전체 갭 목록입니다. GAP-00부터 21까지 있습니다.</a:t>
            </a:r>
          </a:p>
          <a:p>
            <a:r>
              <a:t>P0 필수가 26일로 카탈로그, DMS, AI 에이전트, 앱 마이그레이션 래퍼가 포함됩니다.</a:t>
            </a:r>
          </a:p>
          <a:p>
            <a:r>
              <a:t>가장 큰 건 GAP-10 앱 마이그레이션으로 혼자 15일입니다.</a:t>
            </a:r>
          </a:p>
          <a:p>
            <a:r>
              <a:t>프로젝트 관리 관련(GAP-01~03)은 MVP에서 Mock 유지로 판단했습니다.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C] AI 에이전트 상세입니다.</a:t>
            </a:r>
          </a:p>
          <a:p>
            <a:r>
              <a:t>DB 마이그레이션에 9개, 앱 마이그레이션에 5개로 총 14개입니다.</a:t>
            </a:r>
          </a:p>
          <a:p>
            <a:r>
              <a:t>UI에는 DB 쪽 5개만 표시하고 나머지는 내부 또는 별도 페이지에서 처리합니다.</a:t>
            </a:r>
          </a:p>
          <a:p>
            <a:r>
              <a:t>리트라이 횟수는 에이전트 설정 페이지에서 조정 가능하고 기본 3회입니다.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D] CLI를 API로 래핑하는 상세입니다.</a:t>
            </a:r>
          </a:p>
          <a:p>
            <a:r>
              <a:t>5개 CLI 함수를 각각 FastAPI endpoint로 감쌉니다.</a:t>
            </a:r>
          </a:p>
          <a:p>
            <a:r>
              <a:t>대부분은 동기 처리인데, TranslatorAgent는 장시간 걸리므로 SSE 스트리밍으로 진행률을 전송합니다.</a:t>
            </a:r>
          </a:p>
          <a:p>
            <a:r>
              <a:t>subprocess로 직접 부르지 않는 이유는 상태 관리와 에러 처리가 어렵기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E] BFF vs 백엔드 직접 수정 의사결정입니다.</a:t>
            </a:r>
          </a:p>
          <a:p>
            <a:r>
              <a:t>BFF를 채택하지 않은 이유는 개발 속도, 유지보수, 인프라 비용 모두에서 직접 수정이 유리하기 때문입니다.</a:t>
            </a:r>
          </a:p>
          <a:p>
            <a:r>
              <a:t>나중에 BFF가 필요해지면 API 클라이언트의 Base URL만 바꾸면 되므로 전환 비용이 낮습니다.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F] 대표적인 Oracle→PostgreSQL 변환 패턴입니다.</a:t>
            </a:r>
          </a:p>
          <a:p>
            <a:r>
              <a:t>NVL은 COALESCE로, CONNECT BY는 WITH RECURSIVE로 바뀝니다.</a:t>
            </a:r>
          </a:p>
          <a:p>
            <a:r>
              <a:t>35개 이상 패턴을 자동 감지하고, sqlglot으로 먼저 시도한 뒤 실패하면 AI Agent가 처리합니다.</a:t>
            </a:r>
          </a:p>
          <a:p>
            <a:r>
              <a:t>Mock 데이터 기준 최종 변환율은 약 98%이고, 수동 검토는 2% 정도입니다.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G] 인프라 구성도입니다.</a:t>
            </a:r>
          </a:p>
          <a:p>
            <a:r>
              <a:t>프론트엔드는 S3에 정적 호스팅하고 CloudFront로 배포합니다.</a:t>
            </a:r>
          </a:p>
          <a:p>
            <a:r>
              <a:t>API 요청은 ALB에서 path 기반으로 두 ECS 태스크로 분기합니다.</a:t>
            </a:r>
          </a:p>
          <a:p>
            <a:r>
              <a:t>Lambda 대신 ECS를 쓰는 이유는 AI 에이전트가 15분 이상 걸릴 수 있기 때문입니다.</a:t>
            </a:r>
          </a:p>
          <a:p>
            <a:r>
              <a:t>Mock에서 Real API로 전환은 환경 변수 하나로 제어합니다.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6858000" cy="41148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 Light"/>
              </a:defRPr>
            </a:pPr>
            <a:r>
              <a:t>Oracle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67E8F9"/>
                </a:solidFill>
                <a:latin typeface="Segoe UI Light"/>
              </a:defRPr>
            </a:pPr>
            <a:r>
              <a:t>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F0"/>
                </a:solidFill>
                <a:latin typeface="Segoe UI Light"/>
              </a:defRPr>
            </a:pPr>
            <a:r>
              <a:t>WebUI v2 — 현황 및 로드맵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Oracle→PostgreSQL 마이그레이션을 가속하는 통합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200400" cy="11887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23992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834286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E8F9"/>
                </a:solidFill>
                <a:latin typeface="Segoe UI"/>
              </a:defRPr>
            </a:pPr>
            <a:r>
              <a:t>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23160"/>
            <a:ext cx="3200400" cy="11887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56580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60166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49039"/>
            <a:ext cx="3200400" cy="11887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89168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486046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E7B7"/>
                </a:solidFill>
                <a:latin typeface="Segoe UI"/>
              </a:defRPr>
            </a:pPr>
            <a:r>
              <a:t>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왜 OMA WebUI가 필요한가?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Oracle→PostgreSQL 마이그레이션 자동화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1561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7401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E8F9"/>
                </a:solidFill>
                <a:latin typeface="Segoe UI"/>
              </a:defRPr>
            </a:pPr>
            <a:r>
              <a:t>DMS 자동 변환율</a:t>
            </a:r>
            <a:br/>
            <a:r>
              <a:t>나머지 35%는 AI + 수동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B8B"/>
                </a:solidFill>
                <a:latin typeface="Segoe UI Light"/>
              </a:defRPr>
            </a:pPr>
            <a:r>
              <a:t>앱 마이그레이션 과제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MyBatis XML 내 Oracle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482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수백~수천 건 변환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677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전용 도구 부재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871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런타임 SQL 수집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63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데이터 복제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DMS Full Load + CDC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482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테이블별 진행률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677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원본↔대상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11064240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 Light"/>
              </a:defRPr>
            </a:pPr>
            <a:r>
              <a:t>해결: 3단계 통합 파이프라인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14800"/>
            <a:ext cx="329184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97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① DB 스키마 변환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DMS SC + AI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8289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Assessment → 리트라이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023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스키마 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4114800"/>
            <a:ext cx="329184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297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② 앱 SQL 변환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6634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XML 파싱 + 런타임 수집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88289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sqlglot + AI 폴백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1023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XML 병합 → 테스트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4114800"/>
            <a:ext cx="3749039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29768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③ 데이터 복제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66344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Full Load + CDC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88289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테이블별 모니터링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102352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데이터 일치성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Frontend ←→ ALB ←→ 2 Backends ←→ AWS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OMA WebUI (Frontend)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React 18 + TypeScript + Vite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482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Tailwind CSS v4 (LiteLLM 디자인)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25 Pages | 3 Preset | Mock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/ → /project/:id/* 라우팅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280160"/>
            <a:ext cx="13716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7E8F9"/>
                </a:solidFill>
                <a:latin typeface="Segoe UI"/>
              </a:defRPr>
            </a:pPr>
            <a:r>
              <a:t>ALB</a:t>
            </a:r>
            <a:br/>
            <a:r>
              <a:t>path</a:t>
            </a:r>
            <a:br/>
            <a:r>
              <a:t>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8016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46303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OMA_Strands_Graph :8000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8288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FastAPI + Strands SDK | 9 Agents | 11 REST + 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33172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514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strands-oracle-migration :8001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803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CLI only → FastAPI 래퍼 필요 | 5 Agents + sqlglot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AWS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Bedrock (Claude Sonnet)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885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AgentCore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079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DMS Schema Conversion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52044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0690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ECS Fargate (백엔드 2개)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885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S3 + CloudFront (프론트)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5079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ALB path-based routing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5204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703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99BB"/>
                </a:solidFill>
                <a:latin typeface="Segoe UI Light"/>
              </a:defRPr>
            </a:pPr>
            <a:r>
              <a:t>BFF 미채택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백엔드 직접 수정 방식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2885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개발 속도 ↑, 비용 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5079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API 클라이언트가 추상화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프로젝트 관리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멀티 프로젝트 + 테이블 스코프 선택 + 독립 환경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E8F9"/>
                </a:solidFill>
                <a:latin typeface="Segoe UI"/>
              </a:defRPr>
            </a:pPr>
            <a:r>
              <a:t>프로젝트 목록</a:t>
            </a:r>
            <a:br/>
            <a:r>
              <a:t>카드 그리드 + 진행률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63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생성 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Step 1: 이름 + 프리셋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482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Step 2: 테이블 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677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전체 / 스키마 / 개별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871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26280" y="270662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3,000 테이블 Oracle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260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→ 300개씩 10개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8016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630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/project/:id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8288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독립 DB 설정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4825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독립 기능 토글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26771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독립 마이그레이션 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4871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독립 사이드바 메뉴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319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프로젝트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8055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HR + SALES — 15개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9319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프로젝트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48055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FIN + INV — 13개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9319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B8B"/>
                </a:solidFill>
                <a:latin typeface="Segoe UI Light"/>
              </a:defRPr>
            </a:pPr>
            <a:r>
              <a:t>프로젝트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8055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CRM — 6개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39319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프로젝트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48055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COMMON — 3개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기능 토글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3단계 프리셋 — 사용자 수준별 UI 최적화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E8F9"/>
                </a:solidFill>
                <a:latin typeface="Segoe UI"/>
              </a:defRPr>
            </a:pPr>
            <a:r>
              <a:t>Basic</a:t>
            </a:r>
            <a:br/>
            <a:r>
              <a:t>입문자 / POC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Segoe UI"/>
              </a:defRPr>
            </a:pPr>
            <a:r>
              <a:t>Standard (기본값)</a:t>
            </a:r>
            <a:br/>
            <a:r>
              <a:t>일반 마이그레이션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544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B8B"/>
                </a:solidFill>
                <a:latin typeface="Segoe UI"/>
              </a:defRPr>
            </a:pPr>
            <a:r>
              <a:t>Advanced</a:t>
            </a:r>
            <a:br/>
            <a:r>
              <a:t>전문가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동작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설정 &gt; 기능 관리에서 프리셋 선택 또는 개별 토글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628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비활성 기능: 사이드바 자동 숨김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823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URL 직접 접속 시 안내 + 원클릭 활성화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017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"기능이 너무 많아 헷갈린다" → 필요한 것만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7947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카테고리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43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DB Migration: 5개 (Core 4 + Opt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5628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App Migration: 7개 (Core 4 + Opt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823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Data Migration: 2개 (Core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0017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Tools: 5개 (전부 Optional)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2212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Settings 내부: 3개 (전부 Optional)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DB 마이그레이션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DMS + AI 에이전트 협업 | AWS DMS vs OMA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E8F9"/>
                </a:solidFill>
                <a:latin typeface="Segoe UI"/>
              </a:defRPr>
            </a:pPr>
            <a:r>
              <a:t>SCHEMA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F0"/>
                </a:solidFill>
                <a:latin typeface="Segoe UI"/>
              </a:defRPr>
            </a:pPr>
            <a:r>
              <a:t>Pre-Assessment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5270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7E8F9"/>
                </a:solidFill>
                <a:latin typeface="Segoe UI"/>
              </a:defRPr>
            </a:pPr>
            <a:r>
              <a:t>AWS DMS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47672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208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39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F0"/>
                </a:solidFill>
                <a:latin typeface="Segoe UI"/>
              </a:defRPr>
            </a:pPr>
            <a:r>
              <a:t>Schema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7E8F9"/>
                </a:solidFill>
                <a:latin typeface="Segoe UI"/>
              </a:defRPr>
            </a:pPr>
            <a:r>
              <a:t>AWS DMS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78024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51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69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F0"/>
                </a:solidFill>
                <a:latin typeface="Segoe UI"/>
              </a:defRPr>
            </a:pPr>
            <a:r>
              <a:t>Agent Remediation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587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Segoe UI"/>
              </a:defRPr>
            </a:pPr>
            <a:r>
              <a:t>OMA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08376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81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099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F0"/>
                </a:solidFill>
                <a:latin typeface="Segoe UI"/>
              </a:defRPr>
            </a:pPr>
            <a:r>
              <a:t>Schema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1810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Segoe UI"/>
              </a:defRPr>
            </a:pPr>
            <a:r>
              <a:t>OMA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844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BB"/>
                </a:solidFill>
                <a:latin typeface="Segoe UI"/>
              </a:defRPr>
            </a:pPr>
            <a:r>
              <a:t>DATA REPLICATION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13048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86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B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9044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DMS Replication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9227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BB"/>
                </a:solidFill>
                <a:latin typeface="Segoe UI"/>
              </a:defRPr>
            </a:pPr>
            <a:r>
              <a:t>AWS DMS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43400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B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Full Load &amp; CDC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4531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BB"/>
                </a:solidFill>
                <a:latin typeface="Segoe UI"/>
              </a:defRPr>
            </a:pPr>
            <a:r>
              <a:t>AWS DMS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1143000"/>
            <a:ext cx="5852160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AI Agent Retry Flow (5/9)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1691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Assessment: 변환 완료 / 실패 (2개 상태만)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1911095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5897880" y="213055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실패 → AI 에이전트 리트라이: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235000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Discovery → Schema Architect → Code Migrator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56946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→ QA Verifier → Evaluator (GO/NO-GO)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2788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5897880" y="300837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리트라이 초과 → 최종 실패 → 수동 검토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22783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임계점수: 기본 80 (설정 변경 가능)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4251960"/>
            <a:ext cx="5852160" cy="15544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44348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AWS DMS vs OMA 확장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800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Pre-Assessment, Schema Conversion → DMS 네이티브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502005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Agent Remediation, Validation → OMA 확장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523951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UI에서 배지로 출처 구분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앱 마이그레이션 워크플로우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MyBatis SQL 변환 7단계 | 런타임 로그 수집 + 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07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E8F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07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Mapper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XML 구조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37944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110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E06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110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SQL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293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정적 + 런타임 로그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41448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E8F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SQL 필터링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328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35+ Oracle 패턴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44952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181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1181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쿼리 변환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136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sqlglot + AI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48456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B8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216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수동 검토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739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실패 SQL 수정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51960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25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E8F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251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XML 병합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Mapper 재조립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55464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9286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E7B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286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테스트 지원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Segoe UI"/>
              </a:defRPr>
            </a:pPr>
            <a:r>
              <a:t>AOP 에러 수집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1234440"/>
            <a:ext cx="585216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런타임 로그 수집 (신규)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17830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AOP/Interceptor로 실제 실행 SQL 수집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200253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정적 추출로 잡히지 않는 비즈니스 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22199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로그 소스: AOP, stdout, S3, CloudWatch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306324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3246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변환 예시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611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NVL → COALESCE | DECODE → CASE WHEN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83133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CONNECT BY → WITH RECURSIVE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05079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ROWNUM → LIMIT | (+) → LEFT JOIN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0" y="4617720"/>
            <a:ext cx="5852160" cy="11887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4800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B8B"/>
                </a:solidFill>
                <a:latin typeface="Segoe UI Light"/>
              </a:defRPr>
            </a:pPr>
            <a:r>
              <a:t>에러 복구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5166359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Query Rewrite 실패 → Manual Review CTA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538581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수동 수정 후 XML 병합 → 테스트 검증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UX 개선 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워크플로우 가시성 | 온보딩 | 디자인 리뉴얼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워크플로우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Step X/10 진행률 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48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클릭으로 다른 단계 이동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28016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온보딩 모달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첫 방문 시 3단계 설정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48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필수 vs 선택 구분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마이그레이션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5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설정에서 테이블 조회/수정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428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대시보드에 스코프 요약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474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LiteLLM 디자인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2335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인디고 브랜드, 220px 사이드바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428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13px 폰트, minimal shadow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4747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B8B"/>
                </a:solidFill>
                <a:latin typeface="Segoe UI Light"/>
              </a:defRPr>
            </a:pPr>
            <a:r>
              <a:t>배지 가독성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02335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destructive 배지 대비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428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라이트모드 foreground 수정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백엔드 갭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프론트 83개 API vs 백엔드 11개 → 72개 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1561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7401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B8B"/>
                </a:solidFill>
                <a:latin typeface="Segoe UI"/>
              </a:defRPr>
            </a:pPr>
            <a:r>
              <a:t>REST API 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21561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27401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E068"/>
                </a:solidFill>
                <a:latin typeface="Segoe UI"/>
              </a:defRPr>
            </a:pPr>
            <a:r>
              <a:t>앱 마이그레이션</a:t>
            </a:r>
            <a:br/>
            <a:r>
              <a:t>전체 신규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21561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27401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Segoe UI"/>
              </a:defRPr>
            </a:pPr>
            <a:r>
              <a:t>프로젝트 관리</a:t>
            </a:r>
            <a:br/>
            <a:r>
              <a:t>Mock 유지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21561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27401"/>
            <a:ext cx="2011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E8F9"/>
                </a:solidFill>
                <a:latin typeface="Segoe UI"/>
              </a:defRPr>
            </a:pPr>
            <a:r>
              <a:t>실시간</a:t>
            </a:r>
            <a:br/>
            <a:r>
              <a:t>스트림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노력 추정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P0 필수:  26일 (카탈로그, DMS, AI Agent, 앱 래퍼)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885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P1 중요:  23일 (스키마 검증, 도구, 인프라)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079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P2 보조:   7일 (프로젝트 서버 저장소)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27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85800" y="49469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총 56일 = ~11주(1명) / ~7주(2명)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85800" y="53858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최대 리스크: GAP-10 앱 마이그레이션 래퍼 (15일)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52044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문서화 완료 (4개)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069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docs/01-backend-analysis.md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885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두 백엔드 현재 기능 상세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5079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docs/02-frontend-api-requirements.md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27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프론트 필요 API 83개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9469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docs/03-gap-analysis.md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663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GAP-00~21 + 판단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3858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docs/04-integration-guide.md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6052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5단계 통합 가이드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통합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Segoe UI"/>
              </a:defRPr>
            </a:pPr>
            <a:r>
              <a:t>5단계 | 총 7주 (2인 기준)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7E8F9"/>
                </a:solidFill>
                <a:latin typeface="Segoe UI"/>
              </a:defRPr>
            </a:pPr>
            <a:r>
              <a:t>Phase 1 (1주)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07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기반 구축 + 카탈로그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184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API 클라이언트, 테이블 카탈로그,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Phase 2 (2주)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DB Migration 핵심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DMS 파이프라인, Assessment, AI Agent (WS)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44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B8B"/>
                </a:solidFill>
                <a:latin typeface="Segoe UI"/>
              </a:defRPr>
            </a:pPr>
            <a:r>
              <a:t>Phase 3 (2주)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44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App Migration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558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FastAPI 래퍼 24 endpoint (최대 리스크)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DE068"/>
                </a:solidFill>
                <a:latin typeface="Segoe UI"/>
              </a:defRPr>
            </a:pPr>
            <a:r>
              <a:t>Phase 4 (1주)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13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수동 검토 + 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Manual Review, XML Merge, AOP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82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BB"/>
                </a:solidFill>
                <a:latin typeface="Segoe UI"/>
              </a:defRPr>
            </a:pPr>
            <a:r>
              <a:t>Phase 5 (1주)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782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도구 +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932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SQL 실행기, 로그, 보고서, 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DE068"/>
                </a:solidFill>
                <a:latin typeface="Segoe UI"/>
              </a:defRPr>
            </a:pPr>
            <a:r>
              <a:t>▶ Phase 1 완료 시 첫 E2E 데모  |  ▶ Phase 3 최대 리스크  |  ▶ Phase 4-5 병렬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기술 스택 &amp; 산출물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739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Vite 8 (빌드 &lt; 1초)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Tailwind CSS 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React Router 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Recharts (차트)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Lucide React (아이콘)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00584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5544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OMA_Strands_Graph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739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FastAPI + Strands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933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strands-oracle-migration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2128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CLI + sqlglot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323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AI: Bedrock (Claude)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51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Runtime: AgentCore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00584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Deliverables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5544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25개 페이지 프론트엔드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739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프로젝트 관리 + 기능 토글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993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마이그레이션 스코프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2128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4개 통합 문서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3230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GitHub Repo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1148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480559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ECS Fargate: 백엔드 2개  |  ALB: path-based routing  |  S3 + CloudFront: 프론트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0001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DMS: Schema Conversion + Data Replication  |  Bedrock + AgentCore: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91947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Oracle RDS (소스)  |  PostgreSQL RDS (타겟)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6400800" cy="56692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 Light"/>
              </a:defRPr>
            </a:pPr>
            <a: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BB"/>
                </a:solidFill>
                <a:latin typeface="Segoe UI Light"/>
              </a:defRPr>
            </a:pPr>
            <a:r>
              <a:t>질문 및 논의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57200"/>
            <a:ext cx="4023360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640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Immediate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0058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1. Phase 1 착수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22529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 API 클라이언트 + 카탈로그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44475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2. OMA_Strands_Graph 수정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6642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 프론트 전용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88366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3. FastAPI 래퍼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1031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 strands-oracle-migration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337560"/>
            <a:ext cx="4023360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520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Discussion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8862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프로젝트 관리: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10565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localStorage vs 서버?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3251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FastAPI 래퍼: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5445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담당 팀/리소스?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76402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배포: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9834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CloudFront vs ECS?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520293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인증: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4223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  Cognito / IAM IdC?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 Light"/>
              </a:defRPr>
            </a:pPr>
            <a:r>
              <a:t>APPENDIX — A. 백엔드 상세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Slide 3 보충 | docs/01-backend-analysis.md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69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E8F9"/>
                </a:solidFill>
                <a:latin typeface="Segoe UI"/>
              </a:defRPr>
            </a:pPr>
            <a: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69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E8F9"/>
                </a:solidFill>
                <a:latin typeface="Segoe UI"/>
              </a:defRPr>
            </a:pPr>
            <a:r>
              <a:t>OMA_Strands_Graph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069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E8F9"/>
                </a:solidFill>
                <a:latin typeface="Segoe UI"/>
              </a:defRPr>
            </a:pPr>
            <a:r>
              <a:t>strands-oracle-migration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27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527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DB/데이터 마이그레이션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527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E068"/>
                </a:solidFill>
                <a:latin typeface="Segoe UI"/>
              </a:defRPr>
            </a:pPr>
            <a:r>
              <a:t>앱(SQL) 마이그레이션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84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프레임워크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984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FastAPI + Strands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984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E068"/>
                </a:solidFill>
                <a:latin typeface="Segoe UI"/>
              </a:defRPr>
            </a:pPr>
            <a:r>
              <a:t>CLI only (HTTP API 없음)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37744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에이전트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441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9개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441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E068"/>
                </a:solidFill>
                <a:latin typeface="Segoe UI"/>
              </a:defRPr>
            </a:pPr>
            <a:r>
              <a:t>5개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3464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98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898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11 REST + 1 WS (25 이벤트)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898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E068"/>
                </a:solidFill>
                <a:latin typeface="Segoe UI"/>
              </a:defRPr>
            </a:pPr>
            <a:r>
              <a:t>0 (FastAPI 래퍼 필요)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9184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55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DB 접근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355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Oracle + PG 직접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355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E068"/>
                </a:solidFill>
                <a:latin typeface="Segoe UI"/>
              </a:defRPr>
            </a:pPr>
            <a:r>
              <a:t>query_store 파일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813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Bedrock via AgentCore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813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E068"/>
                </a:solidFill>
                <a:latin typeface="Segoe UI"/>
              </a:defRPr>
            </a:pPr>
            <a:r>
              <a:t>Bedrock + sqlglot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3891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572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예상 질문: "두 백엔드를 왜 합치지 않나?"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937759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역할이 다름. DB 스키마 변환(DDL)과 앱 SQL 변환(DML)은 파이프라인 분리.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5721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ALB path-based routing으로 프론트에서는 하나처럼 보임.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37667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나중에 합칠 필요성이 생기면 BFF 레이어 도입 가능.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 Light"/>
              </a:defRPr>
            </a:pPr>
            <a:r>
              <a:t>APPENDIX — B. 갭 분석 전체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Slide 9 보충 | docs/03-gap-analysis.md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E8F9"/>
                </a:solidFill>
                <a:latin typeface="Segoe UI"/>
              </a:defRPr>
            </a:pPr>
            <a:r>
              <a:t>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960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E8F9"/>
                </a:solidFill>
                <a:latin typeface="Segoe UI"/>
              </a:defRPr>
            </a:pPr>
            <a:r>
              <a:t>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Segoe UI"/>
              </a:defRPr>
            </a:pPr>
            <a:r>
              <a:t>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960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Segoe UI"/>
              </a:defRPr>
            </a:pPr>
            <a:r>
              <a:t>우선순위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960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Segoe UI"/>
              </a:defRPr>
            </a:pPr>
            <a:r>
              <a:t>노력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98448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441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344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테이블 카탈로그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344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신규 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344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344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682495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7282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01-03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17282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프로젝트 CRUD/설정/토글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7282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Mock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728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BB"/>
                </a:solidFill>
                <a:latin typeface="Segoe UI"/>
              </a:defRPr>
            </a:pPr>
            <a: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728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066543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11226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11226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Dashboard 집계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11226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신규 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11226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1226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450591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49631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249631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DMS 파이프라인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49631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기존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49631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P0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49631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834639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88035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28803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Assessment 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28803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신규 추가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288035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P0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88035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218687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26440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326440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AI 에이전트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26440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WS 활용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32644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P0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2644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602735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648455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08-09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364845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스키마 검증/컨텍스트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신규 추가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3648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BB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6484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986783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03250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403250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앱 마이그레이션 전체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03250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전체 신규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403250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P0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03250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15일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370831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41655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11-12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28800" y="441655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데이터 이관/검증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441655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신규 추가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44165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BB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44165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54879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80059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13-17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0" y="480059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도구 5종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480059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신규 추가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0" y="48005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BB"/>
                </a:solidFill>
                <a:latin typeface="Segoe UI"/>
              </a:defRPr>
            </a:pPr>
            <a:r>
              <a:t>P1-P2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48005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7일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138927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18464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518464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실시간 스트리밍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0" y="518464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WS 확장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32320" y="518464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P0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518464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5522975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5568695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19-21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556869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CORS/인증/에러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0" y="556869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신규 추가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2320" y="556869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BB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0" y="556869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5998463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6181343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합계: P0 26일, P1 23일, P2 7일 → 총 56일 (2명 기준 ~7주)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6547103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최대 리스크: GAP-10 앱 마이그레이션 FastAPI 래퍼 (15일, 24 endpoint)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 Light"/>
              </a:defRPr>
            </a:pPr>
            <a:r>
              <a:t>APPENDIX — C. AI 에이전트 파이프라인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Slide 6 보충 | 14개 에이전트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DB 에이전트 (OMA_Strands_Graph) — 9개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Discovery       — 소스 DB 분석, 객체 탐색  [UI: 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82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Schema Architect — DDL 변환 설계  [UI: 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019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Code Migrator    — PL/SQL → PL/pgSQL  [UI: 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21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QA Verifier      — 변환 결과 검증  [UI: 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408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Evaluator        — GO/NO-GO 판정  [UI: 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Remediation      — 실패 객체 재시도  [내부]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79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Report           — 변환 보고서 생성  [내부]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Data Migrator    — 데이터 복제  [별도 페이지]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186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Data Verifier    — 일치성 검증  [별도 페이지]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9144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앱 에이전트 (strands-oracle-migration) — 5개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463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TranslatorAgent   — sqlglot + AI 폴백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82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ValidatorAgent    — EXPLAIN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019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ComparatorAgent   — Oracle↔PG 결과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21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FixerAgent        — 실패 SQL 자동 수정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408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OrchestratorAgent — 전체 파이프라인 조율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383280"/>
            <a:ext cx="548640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예상 질문: "리트라이 횟수 결정?"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931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에이전트 설정 페이지에서 조정 (기본 3회)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513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Evaluator 임계점수 기본 80 미달 시 리트라이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3708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Context Budget (토큰 한도)도 설정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 Light"/>
              </a:defRPr>
            </a:pPr>
            <a:r>
              <a:t>APPENDIX — D. CLI→API 래핑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Slide 7, 10 보충 | GAP-10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78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E8F9"/>
                </a:solidFill>
                <a:latin typeface="Segoe UI"/>
              </a:defRPr>
            </a:pPr>
            <a:r>
              <a:t>CLI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978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Segoe UI"/>
              </a:defRPr>
            </a:pPr>
            <a:r>
              <a:t>래핑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978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Segoe UI"/>
              </a:defRPr>
            </a:pPr>
            <a:r>
              <a:t>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35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extract_sql_from_xml()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435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8BFA"/>
                </a:solidFill>
                <a:latin typeface="Segoe UI"/>
              </a:defRPr>
            </a:pPr>
            <a:r>
              <a:t>POST /api/app/extraction/execute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35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동기 (&lt;30초)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928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classify_sql()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89280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8BFA"/>
                </a:solidFill>
                <a:latin typeface="Segoe UI"/>
              </a:defRPr>
            </a:pPr>
            <a:r>
              <a:t>POST /api/app/filtering/execute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8928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동기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860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50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TranslatorAgent.run()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350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8BFA"/>
                </a:solidFill>
                <a:latin typeface="Segoe UI"/>
              </a:defRPr>
            </a:pPr>
            <a:r>
              <a:t>POST /api/app/rewrite/execute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50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SSE 스트리밍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7432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_merge_mapper_xmls()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807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8BFA"/>
                </a:solidFill>
                <a:latin typeface="Segoe UI"/>
              </a:defRPr>
            </a:pPr>
            <a:r>
              <a:t>POST /api/app/merge/execute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807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동기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004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264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compare_query_store()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264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8BFA"/>
                </a:solidFill>
                <a:latin typeface="Segoe UI"/>
              </a:defRPr>
            </a:pPr>
            <a:r>
              <a:t>POST /api/app/test/execute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264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동기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40480"/>
            <a:ext cx="1106424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23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SSE 스트리밍 패턴 (장시간 작업)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POST /api/app/rewrite/execute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60857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→ Content-Type: text/event-stream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2803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data: {"progress": 45, "current": "SQL-042", "status": "converting"}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047488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data: {"progress": 100, "status": "completed", "result": {...}}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266944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85800" y="548640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예상 질문: CLI를 subprocess로 안 부르나?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0585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→ 상태 관리/에러 처리 어려움. FastAPI로 래핑하면 비동기/재시도 표준화 가능.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 Light"/>
              </a:defRPr>
            </a:pPr>
            <a:r>
              <a:t>APPENDIX — E. 아키텍처 의사결정: BFF vs 직접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Slide 3 보충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78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E8F9"/>
                </a:solidFill>
                <a:latin typeface="Segoe UI"/>
              </a:defRPr>
            </a:pPr>
            <a:r>
              <a:t>평가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978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E8F9"/>
                </a:solidFill>
                <a:latin typeface="Segoe UI"/>
              </a:defRPr>
            </a:pPr>
            <a:r>
              <a:t>BFF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978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E8F9"/>
                </a:solidFill>
                <a:latin typeface="Segoe UI"/>
              </a:defRPr>
            </a:pPr>
            <a:r>
              <a:t>백엔드 직접 수정 (채택)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35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개발 속도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35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B8B"/>
                </a:solidFill>
                <a:latin typeface="Segoe UI"/>
              </a:defRPr>
            </a:pPr>
            <a:r>
              <a:t>느림 (새 서비스)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435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빠름 (기존 코드 추가)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928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유지보수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8928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B8B"/>
                </a:solidFill>
                <a:latin typeface="Segoe UI"/>
              </a:defRPr>
            </a:pPr>
            <a:r>
              <a:t>3개 서비스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892807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2개 서비스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860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50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데이터 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500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B8B"/>
                </a:solidFill>
                <a:latin typeface="Segoe UI"/>
              </a:defRPr>
            </a:pPr>
            <a:r>
              <a:t>프론트→BFF→백엔드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3500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프론트→백엔드 직접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7432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07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유연성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807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B8B"/>
                </a:solidFill>
                <a:latin typeface="Segoe UI"/>
              </a:defRPr>
            </a:pPr>
            <a:r>
              <a:t>BFF에서 응답 가공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807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API 설계에 의존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00400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264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인프라 비용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264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B8B"/>
                </a:solidFill>
                <a:latin typeface="Segoe UI"/>
              </a:defRPr>
            </a:pPr>
            <a:r>
              <a:t>ECS 태스크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264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추가 없음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404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23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예상 질문: "나중에 BFF가 필요해지면?"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프론트엔드 API 클라이언트(src/lib/api/)가 추상화 레이어 역할.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60857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BFF 도입 시 Base URL만 변경하면 됨.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2803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현재 구조가 BFF 전환을 막지 않음.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 Light"/>
              </a:defRPr>
            </a:pPr>
            <a:r>
              <a:t>APPENDIX — F. Oracle→PostgreSQL 변환 패턴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Slide 6-7 보충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69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E8F9"/>
                </a:solidFill>
                <a:latin typeface="Segoe UI"/>
              </a:defRPr>
            </a:pPr>
            <a:r>
              <a:t>Oracle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9692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9692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Segoe UI"/>
              </a:defRPr>
            </a:pPr>
            <a:r>
              <a:t>복잡도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807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NVL(a, 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3807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COALESCE(a,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380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792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SYSDATE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7922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CURRENT_TIMESTAMP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922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4884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03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ROWNUM &lt;=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2037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LIMIT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037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56032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151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DECODE(a,b,c,d)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615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CASE WHEN a=b THEN c ELSE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6151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97180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266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CONNECT BY PRIOR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0266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WITH RECURSIVE CTE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0266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38328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381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(+) 아우터 조인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4381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LEFT/RIGHT JOIN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4381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E068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79476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49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DBMS_LOB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849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PG Large Object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849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20624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611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DBMS_SQL 동적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EXECUTE format()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261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617720"/>
            <a:ext cx="11064240" cy="393192"/>
          </a:xfrm>
          <a:prstGeom prst="roundRect">
            <a:avLst>
              <a:gd name="adj" fmla="val 6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6725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Segoe UI"/>
              </a:defRPr>
            </a:pPr>
            <a:r>
              <a:t>PL/SQL 패키지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6725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Segoe UI"/>
              </a:defRPr>
            </a:pPr>
            <a:r>
              <a:t>스키마 + 함수 조합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672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B8B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16636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3492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E068"/>
                </a:solidFill>
                <a:latin typeface="Segoe UI Light"/>
              </a:defRPr>
            </a:pPr>
            <a:r>
              <a:t>변환 정확도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71500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35+ Oracle 패턴 자동 감지 → sqlglot 결정론적 변환 우선, 실패 시 AI Agent 폴백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93445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Mock 기준: 91.6% 자동 + AI 30% 추가 → 최종 ~98% (수동 2%)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B21A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6400800" cy="4572000"/>
          </a:xfrm>
          <a:prstGeom prst="ellipse">
            <a:avLst/>
          </a:prstGeom>
          <a:solidFill>
            <a:srgbClr val="1E3A5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-1828800"/>
            <a:ext cx="4572000" cy="3657600"/>
          </a:xfrm>
          <a:prstGeom prst="ellipse">
            <a:avLst/>
          </a:prstGeom>
          <a:solidFill>
            <a:srgbClr val="3B096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 Light"/>
              </a:defRPr>
            </a:pPr>
            <a:r>
              <a:t>APPENDIX — G. 인프라 구성도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Segoe UI"/>
              </a:defRPr>
            </a:pPr>
            <a:r>
              <a:t>Slide 11 보충 | docs/04-integration-guide.md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E8F9"/>
                </a:solidFill>
                <a:latin typeface="Segoe UI Light"/>
              </a:defRPr>
            </a:pPr>
            <a:r>
              <a:t>배포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/              → S3 (React SPA 정적 호스팅) via CloudFront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8249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/api/db-*      → ECS Fargate :8000 (OMA_Strands_Graph)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019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/api/app-*     → ECS Fargate :8001 (strands-oracle-migration)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21408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/ws            → ECS Fargate :8000 (WebSocket)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40864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Oracle RDS (소스)  ←  DMS  →  PostgreSQL RDS (타겟)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7977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Bedrock + AgentCore  ←  AI 에이전트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S3  ←  마이그레이션 아티팩트 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 Light"/>
              </a:defRPr>
            </a:pPr>
            <a:r>
              <a:t>예상 질문: "ECS 대신 Lambda?"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AI 에이전트는 수 분~수십 분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513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Lambda 15분 제한에 걸림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708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ECS Fargate가 적합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902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85800" y="4809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예상 질문: "비용은?"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ECS Fargate Spot 활용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486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AI 비용이 인프라 비용보다 큼 (Bedrock 토큰)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3832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E7B7"/>
                </a:solidFill>
                <a:latin typeface="Segoe UI Light"/>
              </a:defRPr>
            </a:pPr>
            <a:r>
              <a:t>환경 변수 (프론트)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VITE_API_BASE_URL=https://alb.example.com/api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513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VITE_WS_URL=wss://alb.example.com/ws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708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VITE_USE_MOCK=false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902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309360" y="4809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Mock→Real 전환: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0292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VITE_USE_MOCK=true → src/data/*.ts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486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Segoe UI"/>
              </a:defRPr>
            </a:pPr>
            <a:r>
              <a:t>VITE_USE_MOCK=false → Real API 호출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