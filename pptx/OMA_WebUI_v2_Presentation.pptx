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VER 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96DCFF"/>
                </a:solidFill>
                <a:latin typeface="Courier New"/>
              </a:defRPr>
            </a:pPr>
            <a:r>
              <a:t>ORACLE MIGRATION ACCELERATOR</a:t>
            </a:r>
          </a:p>
          <a:p>
            <a:pPr>
              <a:spcBef>
                <a:spcPts val="1200"/>
              </a:spcBef>
              <a:defRPr sz="1600">
                <a:solidFill>
                  <a:srgbClr val="64C8FF"/>
                </a:solidFill>
                <a:latin typeface="Courier New"/>
              </a:defRPr>
            </a:pPr>
            <a:r>
              <a:t>WebUI v2 — 현황 및 로드맵</a:t>
            </a:r>
          </a:p>
          <a:p>
            <a:pPr>
              <a:spcBef>
                <a:spcPts val="2000"/>
              </a:spcBef>
              <a:defRPr sz="1000">
                <a:solidFill>
                  <a:srgbClr val="5A90C0"/>
                </a:solidFill>
                <a:latin typeface="Courier New"/>
              </a:defRPr>
            </a:pPr>
            <a:r>
              <a:t>Oracle → PostgreSQL 마이그레이션을 가속하는 통합 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OMA WEBUI V2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2026-04-08 | Architectural Blueprint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PROBLEM 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CECFF"/>
                </a:solidFill>
                <a:latin typeface="Courier New"/>
              </a:defRPr>
            </a:pPr>
            <a:r>
              <a:t>왜 OMA WebUI가 필요한가?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Oracle DB 수천 개 테이블 → PostgreSQL 전환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  수작업으로는 수개월~수년 소요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AWS DMS Schema Conversion 자동 변환율: ~65%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  나머지 35%: AI 에이전트 + 수동 검토 필요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앱 마이그레이션 (MyBatis SQL) 별도 도구 부재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  XML Mapper 내 Oracle 특화 SQL 수백~수천 건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3단계 파이프라인을 하나의 UI에서 통합 관리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  DB 스키마 → 앱 SQL → 데이터 복제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097280"/>
            <a:ext cx="4389120" cy="109728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234439"/>
            <a:ext cx="4023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DB SCHEMA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DMS SC → 65% 자동 변환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709928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AI Agent → 추가 30% 변환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911095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수동 검토 → 최종 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468880"/>
            <a:ext cx="4389120" cy="109728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606040"/>
            <a:ext cx="4023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AA33"/>
                </a:solidFill>
                <a:latin typeface="Courier New"/>
              </a:defRPr>
            </a:pPr>
            <a:r>
              <a:t>APP SQL MIGRATION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880360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Mapper XML 파싱 → SQL 추출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081528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sqlglot + AI Agent → 쿼리 변환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282696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XML 병합 → 테스트 검증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840480"/>
            <a:ext cx="4389120" cy="91440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977640"/>
            <a:ext cx="4023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DATA REPLICATION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51960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DMS Full Load + CDC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453128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원본↔대상 데이터 검증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PROBLEM DEFINITION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Oracle→PostgreSQL 마이그레이션의 자동화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SYSTEM 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097280"/>
            <a:ext cx="3200400" cy="1645920"/>
          </a:xfrm>
          <a:prstGeom prst="roundRect">
            <a:avLst/>
          </a:prstGeom>
          <a:noFill/>
          <a:ln w="1524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234439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DCFF"/>
                </a:solidFill>
                <a:latin typeface="Courier New"/>
              </a:defRPr>
            </a:pPr>
            <a:r>
              <a:t>OMA WebUI (Frontend)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508760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React 18 + TypeScript + Vite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1709928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Tailwind CSS v4 (LiteLLM 디자인)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1911095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React Router v6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112264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ProjectContext + FeatureFlags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31343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25개 페이지 | Mock 데이터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1097280"/>
            <a:ext cx="3200400" cy="164592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1234439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OMA_Strands_Graph :8000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1508760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FastAPI + Strands Agents SDK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1709928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9 AI Agents (Bedrock Claude)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1911095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11 REST + 1 WebSocket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2112264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Oracle + PostgreSQL 직접 접근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1097280"/>
            <a:ext cx="3200400" cy="1645920"/>
          </a:xfrm>
          <a:prstGeom prst="roundRect">
            <a:avLst/>
          </a:prstGeom>
          <a:noFill/>
          <a:ln w="1524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9" y="1234439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C44"/>
                </a:solidFill>
                <a:latin typeface="Courier New"/>
              </a:defRPr>
            </a:pPr>
            <a:r>
              <a:t>strands-oracle-migration :8001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9" y="1508760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CLI Only (HTTP API 없음)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19" y="1709928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5 AI Agents + sqlglot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9" y="1911095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35+ Oracle 패턴 감지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2112264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FastAPI 래퍼 필요 (신규)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200400"/>
            <a:ext cx="4572000" cy="109728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3375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AWS SERVICES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611879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Bedrock (Claude Sonnet) | AgentCore Runtime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81304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DMS Schema Conversion | S3 Artifacts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0" y="3200400"/>
            <a:ext cx="5303520" cy="109728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3337560"/>
            <a:ext cx="4937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AA33"/>
                </a:solidFill>
                <a:latin typeface="Courier New"/>
              </a:defRPr>
            </a:pPr>
            <a:r>
              <a:t>ARCHITECTURE 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3611879"/>
            <a:ext cx="49377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BFF 대신 백엔드 직접 수정 방식 채택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3813048"/>
            <a:ext cx="49377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ALB path-based routing: /api/db-* → :8000, /api/app-* → :8001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4014215"/>
            <a:ext cx="49377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→ 개발 속도 ↑, 인프라 비용 ↓, 서비스 2개 유지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SYSTEM ARCHITECTURE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Frontend ←→ ALB ←→ 2 Backends ←→ AWS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PROJECT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0972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CECFF"/>
                </a:solidFill>
                <a:latin typeface="Courier New"/>
              </a:defRPr>
            </a:pPr>
            <a:r>
              <a:t>멀티 프로젝트 + 마이그레이션 스코프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프로젝트 목록 대시보드 (루트 /)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  → 카드 그리드, 프로젝트별 진행률 표시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프로젝트 진입 (/project/:id)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  → 독립 설정, 메뉴, 상태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2단계 생성 프로세스: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  Step 1: 이름 + 기능 프리셋 선택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  Step 2: 테이블 범위 선택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1097280"/>
            <a:ext cx="5029200" cy="228600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23443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MIGRATION SCOPE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5087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전체 테이블  — DB 내 모든 테이블 포함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70992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스키마 단위  — HR, SALES, FIN 등 선택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1911095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테이블 직접  — 개별 테이블 체크박스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11226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126480" y="2313432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예: 3,000 테이블 Oracle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51460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→ 300개씩 10개 프로젝트로 분할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71576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→ 병렬 마이그레이션 수행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3657600"/>
            <a:ext cx="5029200" cy="137160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7947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PER-PROJECT ISOLATION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06908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프로젝트별 독립: DB 접속, DMS 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27024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프로젝트별 독립: 에이전트 파라미터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471416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프로젝트별 독립: 기능 토글 프리셋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672583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프로젝트별 독립: 마이그레이션 진행 상태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PROJECT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프로젝트 목록 → 스코프 선택 → 독립 환경 진입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FEATURE TOGGLE SYSTEM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097280"/>
          <a:ext cx="4572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1188720"/>
                <a:gridCol w="1554480"/>
              </a:tblGrid>
              <a:tr h="320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프리셋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기능 수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대상 사용자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특징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10개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입문자 / POC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필수 기능만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17개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일반 (기본값)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필수 + 도구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Advanced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23개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전문가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모든 기능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2926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동작 방식: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설정 &gt; 기능 관리 페이지에서 선택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프리셋 선택 → 자동 플래그 설정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개별 토글로 세밀 조정 가능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비활성 기능: 사이드바 자동 숨김</a:t>
            </a:r>
          </a:p>
          <a:p>
            <a:pPr>
              <a:spcAft>
                <a:spcPts val="400"/>
              </a:spcAft>
              <a:defRPr sz="900">
                <a:solidFill>
                  <a:srgbClr val="CCECFF"/>
                </a:solidFill>
                <a:latin typeface="Courier New"/>
              </a:defRPr>
            </a:pPr>
            <a:r>
              <a:t>■ URL 직접 접속 시 안내 페이지 표시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097280"/>
            <a:ext cx="5029200" cy="91440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23443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CORE (항상 활성) — 10개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5087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DMS 실행/결과, AI 스키마, 스키마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170992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SQL 추출/필터링, 쿼리 변환, XML 병합, 데이터 실행/검증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2286000"/>
            <a:ext cx="5029200" cy="91440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4231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AA33"/>
                </a:solidFill>
                <a:latin typeface="Courier New"/>
              </a:defRPr>
            </a:pPr>
            <a:r>
              <a:t>STANDARD 추가 — +7개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697479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대시보드, SQL 실행기, 로그 뷰어, 변환 보고서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89864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지식 베이스, Mapper 탐색, 수동 검토, 테스트 지원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3474720"/>
            <a:ext cx="5029200" cy="822960"/>
          </a:xfrm>
          <a:prstGeom prst="roundRect">
            <a:avLst/>
          </a:prstGeom>
          <a:noFill/>
          <a:ln w="1524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61187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C44"/>
                </a:solidFill>
                <a:latin typeface="Courier New"/>
              </a:defRPr>
            </a:pPr>
            <a:r>
              <a:t>ADVANCED 추가 — +6개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88620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변환 컨텍스트, 에이전트 로그, 고급 에이전트 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08736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DMS 설정, 클라우드 스토리지 옵션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FEATURE TOGGLE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3단계 프리셋 (Basic / Standard / Advanced) — 사용자 수준별 UI 최적화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DB MIGRATION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C8FF"/>
                </a:solidFill>
                <a:latin typeface="Courier New"/>
              </a:defRPr>
            </a:pPr>
            <a:r>
              <a:t>─── SCHEMA CONVERSION (Step 1-4) ───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417319"/>
            <a:ext cx="5029200" cy="45720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1554479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Step 1: Pre-Assessment  [AWS DMS]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1965960"/>
            <a:ext cx="5029200" cy="45720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10312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Step 2: Schema Conversion  [AWS DMS]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2514600"/>
            <a:ext cx="5029200" cy="45720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6517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Step 3: Agent Remediation  [OMA]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063240"/>
            <a:ext cx="5029200" cy="45720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20040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Step 4: Schema Validation  [OMA]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C8FF"/>
                </a:solidFill>
                <a:latin typeface="Courier New"/>
              </a:defRPr>
            </a:pPr>
            <a:r>
              <a:t>─── DATA REPLICATION (Step 5-6) ───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931920"/>
            <a:ext cx="5029200" cy="45720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06908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Step 5: DMS Replication Setup  [AWS DMS]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80559"/>
            <a:ext cx="5029200" cy="45720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Step 6: Full Load &amp; CDC  [AWS DMS]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1097280"/>
            <a:ext cx="4572000" cy="274320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234439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AA33"/>
                </a:solidFill>
                <a:latin typeface="Courier New"/>
              </a:defRPr>
            </a:pPr>
            <a:r>
              <a:t>AI AGENT RETRY FLOW (5/9)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50876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Assessment 결과: 변환 완료 / 실패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70992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(Agent Needed 상태 제거)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911095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6400800" y="2112264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실패 항목 → AI 에이전트 리트라이: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3134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Discovery → Schema Architect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51460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→ Code Migrator → QA Verifier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71576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→ Evaluator (GO/NO-GO)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916936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6400800" y="3118104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리트라이 횟수 초과 → 최종 실패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31927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→ 수동 검토 필요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DB MIGRATION PIPELINE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DMS + AI 에이전트 협업 | AWS DMS 네이티브 vs OMA 확장 구분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APP MIGRATION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097280"/>
            <a:ext cx="5029200" cy="502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23443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Step 1: Mapper 파일 탐색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5087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MyBatis XML 구조 분석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1691640"/>
            <a:ext cx="5029200" cy="502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18288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Step 2: SQL 추출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10312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정적 파싱 + 런타임 로그 수집 (AOP)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286000"/>
            <a:ext cx="5029200" cy="502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4231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Step 3: SQL 필터링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2697479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Oracle 특화 SQL 분류 (35+ 패턴)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880360"/>
            <a:ext cx="5029200" cy="502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017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Step 4: 쿼리 변환 (AI)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291839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sqlglot + AI Agent 폴백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474720"/>
            <a:ext cx="5029200" cy="502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61187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Step 5: 수동 검토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88620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실패 SQL 수동 수정 + 테스트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069080"/>
            <a:ext cx="5029200" cy="502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2062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Step 6: XML 병합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4805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변환 SQL → 원본 Mapper 병합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63440"/>
            <a:ext cx="5029200" cy="502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8006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Step 7: 테스트 지원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07492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Spring AOP 에러 수집 + 자동 수정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1097280"/>
            <a:ext cx="4572000" cy="137160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1234439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AA33"/>
                </a:solidFill>
                <a:latin typeface="Courier New"/>
              </a:defRPr>
            </a:pPr>
            <a:r>
              <a:t>NEW: 런타임 로그 수집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150876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AOP/Interceptor로 서버 로그에서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70992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실제 실행된 MyBatis SQL 수집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1911095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6400800" y="2112264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정적 추출로 잡히지 않는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3134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비즈니스 SQL 패턴 확인 가능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2743200"/>
            <a:ext cx="4572000" cy="137160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28803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Oracle→PG 변환 예시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154679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NVL → COALESCE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335584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DECODE → CASE WHEN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557016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CONNECT BY → WITH RECURSIVE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758184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ROWNUM → LIMIT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395935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(+) → LEFT/RIGHT JOIN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4389120"/>
            <a:ext cx="4572000" cy="731520"/>
          </a:xfrm>
          <a:prstGeom prst="roundRect">
            <a:avLst/>
          </a:prstGeom>
          <a:noFill/>
          <a:ln w="1524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452628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C44"/>
                </a:solidFill>
                <a:latin typeface="Courier New"/>
              </a:defRPr>
            </a:pPr>
            <a:r>
              <a:t>ERROR RECOVERY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80060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Query Rewrite 실패 → Manual Review CTA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00176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에러 복구 경로 명시화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APP MIGRATION WORKFLOW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MyBatis SQL 변환 7단계 | 런타임 로그 수집 + AI Agent + 에러 복구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UX IMPROVEMENTS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097280"/>
            <a:ext cx="5029200" cy="164592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23443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워크플로우 위치 표시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5087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각 페이지 상단 'Step X/10' 진행률 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170992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클릭으로 다른 단계 이동 가능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097280"/>
            <a:ext cx="5029200" cy="164592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23443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AA33"/>
                </a:solidFill>
                <a:latin typeface="Courier New"/>
              </a:defRPr>
            </a:pPr>
            <a:r>
              <a:t>온보딩 모달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15087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첫 방문 시 3단계 설정 가이드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170992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필수(프로젝트 설정) vs 선택(에이전트/테스트) 구분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108960"/>
            <a:ext cx="5029200" cy="1645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2461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마이그레이션 범위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52044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프로젝트 설정에서 테이블 목록 조회/수정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72160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대시보드에 현재 스코프 요약 표시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3108960"/>
            <a:ext cx="5029200" cy="164592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2461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LiteLLM 디자인 적용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52044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인디고 브랜드, 220px compact 사이드바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72160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13px 폰트, 최소 그림자, professional 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UX IMPROVEMENTS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사용자 혼란 요소 제거 | 워크플로우 가시성 | LiteLLM 디자인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BACKEND GAP ANALYSIS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097280"/>
          <a:ext cx="10058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프론트 요구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백엔드 제공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갭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6DCFF"/>
                          </a:solidFill>
                          <a:latin typeface="Courier New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0A1C35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83개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11개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72개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OMA_Strands_Graph 11개만 존재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앱 마이그레이션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24개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0개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전체 신규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CLI만 존재, FastAPI 래퍼 필요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프로젝트 관리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19개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0개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Mock 유지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localStorage로 MVP 대응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실시간 스트림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7개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1개 (WS)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부분 매칭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CECFF"/>
                          </a:solidFill>
                          <a:latin typeface="Courier New"/>
                        </a:defRPr>
                      </a:pPr>
                      <a:r>
                        <a:t>SSE 4개 + WS 1개 추가 필요</a:t>
                      </a:r>
                    </a:p>
                  </a:txBody>
                  <a:tcPr>
                    <a:solidFill>
                      <a:srgbClr val="0D2240"/>
                    </a:solidFill>
                    <a:lnL w="6350">
                      <a:solidFill>
                        <a:srgbClr val="1A3A5C"/>
                      </a:solidFill>
                    </a:lnL>
                    <a:lnR w="6350">
                      <a:solidFill>
                        <a:srgbClr val="1A3A5C"/>
                      </a:solidFill>
                    </a:lnR>
                    <a:lnT w="6350">
                      <a:solidFill>
                        <a:srgbClr val="1A3A5C"/>
                      </a:solidFill>
                    </a:lnT>
                    <a:lnB w="6350">
                      <a:solidFill>
                        <a:srgbClr val="1A3A5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3291840"/>
            <a:ext cx="5029200" cy="1828800"/>
          </a:xfrm>
          <a:prstGeom prst="roundRect">
            <a:avLst/>
          </a:prstGeom>
          <a:noFill/>
          <a:ln w="1524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290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C44"/>
                </a:solidFill>
                <a:latin typeface="Courier New"/>
              </a:defRPr>
            </a:pPr>
            <a:r>
              <a:t>EFFORT ESTIMATE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P0 필수:  26일 (테이블 카탈로그, DMS,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04487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       AI 에이전트, 앱 마이그레이션 래퍼)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05655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P1 중요:  23일 (스키마 검증, 도구, 인프라)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06823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P2 보조:   7일 (프로젝트 서버 저장소)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07991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31520" y="4709159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총 56일 = 약 11주 (1명) / 7주 (2명)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291840"/>
            <a:ext cx="4572000" cy="182880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42900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문서화 완료 (4개)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70332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docs/01-backend-analysis.md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04487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→ 백엔드 현재 기능 상세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105655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docs/02-frontend-api-requirements.md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306823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→ 프론트 필요 API 83개 명세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07991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docs/03-gap-analysis.md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09159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→ GAP-00~21 상세 + 판단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910327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docs/04-integration-guide.md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111495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  → 5단계 통합 가이드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BACKEND GAP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프론트엔드 83개 API 요구 vs 백엔드 11개 제공 → 72개 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INTEGRATION ROADMAP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097280"/>
            <a:ext cx="10058400" cy="77724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234439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Phase 1 (1주) — 기반 구축 + 카탈로그 +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508760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API 클라이언트, 테이블 카탈로그 3개 API, Dashboard 집계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011680"/>
            <a:ext cx="10058400" cy="77724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14884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Phase 2 (2주) — DB Migration 핵심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423160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DMS 파이프라인, Assessment, AI Agent 실시간 (WebSocket)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926080"/>
            <a:ext cx="10058400" cy="777240"/>
          </a:xfrm>
          <a:prstGeom prst="roundRect">
            <a:avLst/>
          </a:prstGeom>
          <a:noFill/>
          <a:ln w="1524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06324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C44"/>
                </a:solidFill>
                <a:latin typeface="Courier New"/>
              </a:defRPr>
            </a:pPr>
            <a:r>
              <a:t>Phase 3 (2주) — App Migration (최대 리스크)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337560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FastAPI 래퍼 24개 endpoint 신규 구축, SSE 스트리밍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840480"/>
            <a:ext cx="10058400" cy="77724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97764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Phase 4 (1주) — 수동 검토 + 테스트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Manual Review, XML Merge, AOP 테스트 연동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754880"/>
            <a:ext cx="10058400" cy="77724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89204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Phase 5 (1주) — 도구 + 설정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166360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SQL 실행기, 로그, 보고서, 지식 베이스, 설정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FFAA33"/>
                </a:solidFill>
                <a:latin typeface="Courier New"/>
              </a:defRPr>
            </a:pPr>
            <a:r>
              <a:t>▶ Phase 1 완료 시 첫 End-to-End 데모 가능</a:t>
            </a:r>
          </a:p>
          <a:p>
            <a:pPr>
              <a:spcAft>
                <a:spcPts val="400"/>
              </a:spcAft>
              <a:defRPr sz="900">
                <a:solidFill>
                  <a:srgbClr val="FFAA33"/>
                </a:solidFill>
                <a:latin typeface="Courier New"/>
              </a:defRPr>
            </a:pPr>
            <a:r>
              <a:t>▶ Phase 3이 최대 리스크: strands-oracle-migration CLI → FastAPI HTTP 래퍼 신규 구축</a:t>
            </a:r>
          </a:p>
          <a:p>
            <a:pPr>
              <a:spcAft>
                <a:spcPts val="400"/>
              </a:spcAft>
              <a:defRPr sz="900">
                <a:solidFill>
                  <a:srgbClr val="FFAA33"/>
                </a:solidFill>
                <a:latin typeface="Courier New"/>
              </a:defRPr>
            </a:pPr>
            <a:r>
              <a:t>▶ 총 7주 (2인 기준) | Phase 4-5는 병렬 가능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INTEGRATION ROADMAP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5단계 통합 계획 | 총 7주 | Phase 1 완료 시 첫 E2E 데모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2026-04-08</a:t>
            </a:r>
            <a:br/>
            <a: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TECH STACK &amp; DELIVERABLES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097280"/>
            <a:ext cx="5029200" cy="2286000"/>
          </a:xfrm>
          <a:prstGeom prst="roundRect">
            <a:avLst/>
          </a:prstGeom>
          <a:noFill/>
          <a:ln w="1524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23443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DCFF"/>
                </a:solidFill>
                <a:latin typeface="Courier New"/>
              </a:defRPr>
            </a:pPr>
            <a: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5087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React 18 + TypeScript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170992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Vite 8 (빌드 &lt; 1초)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1911095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Tailwind CSS 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11226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React Router v6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313432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Recharts (차트)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51460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Lucide React (아이콘)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271576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shadcn/ui 스타일 컴포넌트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657600"/>
            <a:ext cx="5029200" cy="137160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7947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06908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OMA_Strands_Graph: FastAPI + Strands SDK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27024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strands-oracle-migration: Python CLI + sqlglot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471416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AI: Amazon Bedrock (Claude Sonnet)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672583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Runtime: AgentCore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1097280"/>
            <a:ext cx="4572000" cy="2286000"/>
          </a:xfrm>
          <a:prstGeom prst="roundRect">
            <a:avLst/>
          </a:prstGeom>
          <a:noFill/>
          <a:ln w="1524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234439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AA33"/>
                </a:solidFill>
                <a:latin typeface="Courier New"/>
              </a:defRPr>
            </a:pPr>
            <a:r>
              <a:t>DELIVERABLES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50876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25개 페이지 프론트엔드 (빌드 성공)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70992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프로젝트 관리 + 기능 토글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1911095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마이그레이션 스코프 선택 (테이블 단위)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112264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AWS 정합성 보정 + LiteLLM 디자인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3134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4개 통합 문서 (docs/)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51460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GitHub Private Repo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71576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Dev 서버 운영 중 (CloudFront)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657600"/>
            <a:ext cx="4572000" cy="1371600"/>
          </a:xfrm>
          <a:prstGeom prst="roundRect">
            <a:avLst/>
          </a:prstGeom>
          <a:noFill/>
          <a:ln w="1524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7947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C8FF"/>
                </a:solidFill>
                <a:latin typeface="Courier New"/>
              </a:defRPr>
            </a:pPr>
            <a:r>
              <a:t>INFRASTRUCTURE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069080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ECS Fargate (백엔드 2개)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270248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ALB (path-based routing)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471416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S3 + CloudFront (프론트엔드)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672583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DMS, Bedrock, AgentCore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TECH STACK &amp; DELIVERABLES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React + Tailwind + Vite | 25 Pages | 4 Docs | GitHub Repo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8000" cy="685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8000"/>
          </a:xfrm>
          <a:prstGeom prst="rect">
            <a:avLst/>
          </a:prstGeom>
          <a:noFill/>
          <a:ln w="30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65760"/>
            <a:ext cx="1463040" cy="1463040"/>
          </a:xfrm>
          <a:prstGeom prst="ellipse">
            <a:avLst/>
          </a:prstGeom>
          <a:noFill/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700">
                <a:solidFill>
                  <a:srgbClr val="64C8FF"/>
                </a:solidFill>
                <a:latin typeface="Courier New"/>
              </a:defRPr>
            </a:pPr>
            <a:r>
              <a:t>OMA WebUI v2</a:t>
            </a:r>
            <a:br/>
            <a:r>
              <a:t>Q&amp;A</a:t>
            </a:r>
            <a:br/>
            <a: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C8FF"/>
                </a:solidFill>
                <a:latin typeface="Courier New"/>
              </a:defRPr>
            </a:pPr>
            <a:r>
              <a:t>// NEXT STEPS &amp; Q&amp;A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097280"/>
            <a:ext cx="5029200" cy="2011680"/>
          </a:xfrm>
          <a:prstGeom prst="roundRect">
            <a:avLst/>
          </a:prstGeom>
          <a:noFill/>
          <a:ln w="1524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23443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EC98B"/>
                </a:solidFill>
                <a:latin typeface="Courier New"/>
              </a:defRPr>
            </a:pPr>
            <a:r>
              <a:t>IMMEDIATE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50876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1. Phase 1 착수: API 클라이언트 + 카탈로그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170992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2. OMA_Strands_Graph에 프론트 전용 endpoint 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1911095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3. strands-oracle-migration FastAPI 래퍼 설계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11226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4. E2E 데모 환경 구축 (Oracle + PG + DMS)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474720"/>
            <a:ext cx="5029200" cy="1645920"/>
          </a:xfrm>
          <a:prstGeom prst="roundRect">
            <a:avLst/>
          </a:prstGeom>
          <a:noFill/>
          <a:ln w="1524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61187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C44"/>
                </a:solidFill>
                <a:latin typeface="Courier New"/>
              </a:defRPr>
            </a:pPr>
            <a:r>
              <a:t>DISCUSSION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886200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프로젝트 관리: localStorage vs 서버 저장소?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087368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FastAPI 래퍼: 담당 팀/리소스 할당?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288536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배포: CloudFront + S3 vs ECS?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489703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CECFF"/>
                </a:solidFill>
                <a:latin typeface="Courier New"/>
              </a:defRPr>
            </a:pPr>
            <a:r>
              <a:t>■ 인증: Cognito / IAM Identity Center?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96DCFF"/>
                </a:solidFill>
                <a:latin typeface="Courier New"/>
              </a:defRPr>
            </a:pPr>
            <a:r>
              <a:t>Q &amp; A</a:t>
            </a:r>
          </a:p>
          <a:p>
            <a:pPr algn="ctr">
              <a:defRPr sz="1400">
                <a:solidFill>
                  <a:srgbClr val="64C8FF"/>
                </a:solidFill>
                <a:latin typeface="Courier New"/>
              </a:defRPr>
            </a:pPr>
            <a:r>
              <a:t>질문 및 논의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DCFF"/>
                </a:solidFill>
                <a:latin typeface="Courier New"/>
              </a:defRPr>
            </a:pPr>
            <a:r>
              <a:t>NEXT STEPS &amp; Q&amp;A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90C0"/>
                </a:solidFill>
                <a:latin typeface="Courier New"/>
              </a:defRPr>
            </a:pPr>
            <a:r>
              <a:t>즉시 가능한 액션 + 논의 포인트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