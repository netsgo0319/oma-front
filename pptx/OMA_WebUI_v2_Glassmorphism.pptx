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6858000" cy="41148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 Light"/>
              </a:defRPr>
            </a:pPr>
            <a:r>
              <a:t>Oracle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67E8F9"/>
                </a:solidFill>
                <a:latin typeface="Segoe UI Light"/>
              </a:defRPr>
            </a:pPr>
            <a:r>
              <a:t>Accelerator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F0"/>
                </a:solidFill>
                <a:latin typeface="Segoe UI Light"/>
              </a:defRPr>
            </a:pPr>
            <a:r>
              <a:t>WebUI v2 — 현황 및 로드맵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114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BB"/>
                </a:solidFill>
                <a:latin typeface="Segoe UI"/>
              </a:defRPr>
            </a:pPr>
            <a:r>
              <a:t>Oracle→PostgreSQL 마이그레이션을 가속하는 통합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097280"/>
            <a:ext cx="3200400" cy="11887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239926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834286"/>
            <a:ext cx="27432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7E8F9"/>
                </a:solidFill>
                <a:latin typeface="Segoe UI"/>
              </a:defRPr>
            </a:pPr>
            <a:r>
              <a:t>Pages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423160"/>
            <a:ext cx="3200400" cy="11887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565806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160166"/>
            <a:ext cx="27432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Segoe UI"/>
              </a:defRPr>
            </a:pPr>
            <a:r>
              <a:t>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749039"/>
            <a:ext cx="3200400" cy="11887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3891686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486046"/>
            <a:ext cx="27432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E7B7"/>
                </a:solidFill>
                <a:latin typeface="Segoe UI"/>
              </a:defRPr>
            </a:pPr>
            <a:r>
              <a:t>Docs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왜 OMA WebUI가 필요한가?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Oracle→PostgreSQL 마이그레이션 자동화 과제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21561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65%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27401"/>
            <a:ext cx="3200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7E8F9"/>
                </a:solidFill>
                <a:latin typeface="Segoe UI"/>
              </a:defRPr>
            </a:pPr>
            <a:r>
              <a:t>DMS 자동 변환율</a:t>
            </a:r>
            <a:br/>
            <a:r>
              <a:t>나머지 35%는 AI + 수동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630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B8B"/>
                </a:solidFill>
                <a:latin typeface="Segoe UI Light"/>
              </a:defRPr>
            </a:pPr>
            <a:r>
              <a:t>앱 마이그레이션 과제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82880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MyBatis XML 내 Oracle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4825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수백~수천 건 변환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677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전용 도구 부재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48716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런타임 SQL 수집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280160"/>
            <a:ext cx="347472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46303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데이터 복제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82880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DMS Full Load + CDC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04825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테이블별 진행률 추적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26771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원본↔대상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11064240" cy="2468880"/>
          </a:xfrm>
          <a:prstGeom prst="roundRect">
            <a:avLst>
              <a:gd name="adj" fmla="val 6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576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 Light"/>
              </a:defRPr>
            </a:pPr>
            <a:r>
              <a:t>해결: 3단계 통합 파이프라인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14800"/>
            <a:ext cx="329184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976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① DB 스키마 변환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6634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DMS SC + AI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88289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Assessment → 리트라이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1023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스키마 검증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4114800"/>
            <a:ext cx="329184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2976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② 앱 SQL 변환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6634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XML 파싱 + 런타임 수집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88289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sqlglot + AI 폴백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51023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XML 병합 → 테스트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4114800"/>
            <a:ext cx="3749039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8120" y="4297680"/>
            <a:ext cx="3291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③ 데이터 복제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663440"/>
            <a:ext cx="32918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Full Load + CDC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882896"/>
            <a:ext cx="32918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테이블별 모니터링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5102352"/>
            <a:ext cx="32918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데이터 일치성 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시스템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Frontend ←→ ALB ←→ 2 Backends ←→ AWS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0292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OMA WebUI (Frontend)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React 18 + TypeScript + Vite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48256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Tailwind CSS v4 (LiteLLM 디자인)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67712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25 Pages | 3 Preset | Mock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87168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/ → /project/:id/* 라우팅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280160"/>
            <a:ext cx="13716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2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0" y="192024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7E8F9"/>
                </a:solidFill>
                <a:latin typeface="Segoe UI"/>
              </a:defRPr>
            </a:pPr>
            <a:r>
              <a:t>ALB</a:t>
            </a:r>
            <a:br/>
            <a:r>
              <a:t>path</a:t>
            </a:r>
            <a:br/>
            <a:r>
              <a:t>routing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280160"/>
            <a:ext cx="4297680" cy="9144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463039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OMA_Strands_Graph :8000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182880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FastAPI + Strands SDK | 9 Agents | 11 REST + WS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2331720"/>
            <a:ext cx="4297680" cy="9144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5146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DE068"/>
                </a:solidFill>
                <a:latin typeface="Segoe UI Light"/>
              </a:defRPr>
            </a:pPr>
            <a:r>
              <a:t>strands-oracle-migration :8001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880360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CLI only → FastAPI 래퍼 필요 | 5 Agents + sqlglot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AWS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0690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Bedrock (Claude Sonnet)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28853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AgentCore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0799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DMS Schema Conversion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520440"/>
            <a:ext cx="365760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Infrastructure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0690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ECS Fargate (백엔드 2개)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28853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S3 + CloudFront (프론트)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50799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ALB path-based routing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3520440"/>
            <a:ext cx="347472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3703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999BB"/>
                </a:solidFill>
                <a:latin typeface="Segoe UI Light"/>
              </a:defRPr>
            </a:pPr>
            <a:r>
              <a:t>BFF 미채택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0690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백엔드 직접 수정 방식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28853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개발 속도 ↑, 비용 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50799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API 클라이언트가 추상화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프로젝트 관리 체계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멀티 프로젝트 + 테이블 스코프 선택 + 독립 환경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20040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2743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7E8F9"/>
                </a:solidFill>
                <a:latin typeface="Segoe UI"/>
              </a:defRPr>
            </a:pPr>
            <a:r>
              <a:t>프로젝트 목록</a:t>
            </a:r>
            <a:br/>
            <a:r>
              <a:t>카드 그리드 + 진행률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78BF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80160"/>
            <a:ext cx="320040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6303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생성 2단계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82880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Step 1: 이름 + 프리셋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48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Step 2: 테이블 범위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26771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전체 / 스키마 / 개별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48716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26280" y="270662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3,000 테이블 Oracle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2608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→ 300개씩 10개 프로젝트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011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A78BFA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280160"/>
            <a:ext cx="338328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14630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/project/:id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8288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독립 DB 설정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048256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독립 기능 토글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267712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독립 마이그레이션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487168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독립 사이드바 메뉴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3192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프로젝트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480559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HR + SALES — 15개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93192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2044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프로젝트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4480559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FIN + INV — 13개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393192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B8B"/>
                </a:solidFill>
                <a:latin typeface="Segoe UI Light"/>
              </a:defRPr>
            </a:pPr>
            <a:r>
              <a:t>프로젝트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480559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CRM — 6개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20" y="3931920"/>
            <a:ext cx="274320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972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DE068"/>
                </a:solidFill>
                <a:latin typeface="Segoe UI Light"/>
              </a:defRPr>
            </a:pPr>
            <a:r>
              <a:t>프로젝트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4480559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COMMON — 3개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기능 토글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3단계 프리셋 — 사용자 수준별 UI 최적화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7E8F9"/>
                </a:solidFill>
                <a:latin typeface="Segoe UI"/>
              </a:defRPr>
            </a:pPr>
            <a:r>
              <a:t>Basic</a:t>
            </a:r>
            <a:br/>
            <a:r>
              <a:t>입문자 / POC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554480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Segoe UI"/>
              </a:defRPr>
            </a:pPr>
            <a:r>
              <a:t>Standard (기본값)</a:t>
            </a:r>
            <a:br/>
            <a:r>
              <a:t>일반 마이그레이션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8016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55448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697480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8B8B"/>
                </a:solidFill>
                <a:latin typeface="Segoe UI"/>
              </a:defRPr>
            </a:pPr>
            <a:r>
              <a:t>Advanced</a:t>
            </a:r>
            <a:br/>
            <a:r>
              <a:t>전문가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947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77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동작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434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설정 &gt; 기능 관리에서 프리셋 선택 또는 개별 토글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6285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비활성 기능: 사이드바 자동 숨김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7823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URL 직접 접속 시 안내 + 원클릭 활성화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"기능이 너무 많아 헷갈린다" → 필요한 것만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379476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3977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카테고리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434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DB Migration: 5개 (Core 4 + Opt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56285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App Migration: 7개 (Core 4 + Opt 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78231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Data Migration: 2개 (Core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00176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Tools: 5개 (전부 Optional)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221224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Settings 내부: 3개 (전부 Optional)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DB 마이그레이션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DMS + AI 에이전트 협업 | AWS DMS vs OMA 확장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7E8F9"/>
                </a:solidFill>
                <a:latin typeface="Segoe UI"/>
              </a:defRPr>
            </a:pPr>
            <a:r>
              <a:t>SCHEMA CONVERSION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04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F0"/>
                </a:solidFill>
                <a:latin typeface="Segoe UI"/>
              </a:defRPr>
            </a:pPr>
            <a:r>
              <a:t>Pre-Assessment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5270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7E8F9"/>
                </a:solidFill>
                <a:latin typeface="Segoe UI"/>
              </a:defRPr>
            </a:pPr>
            <a:r>
              <a:t>AWS DMS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947672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2082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0391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F0"/>
                </a:solidFill>
                <a:latin typeface="Segoe UI"/>
              </a:defRPr>
            </a:pPr>
            <a:r>
              <a:t>Schema Conversion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0574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7E8F9"/>
                </a:solidFill>
                <a:latin typeface="Segoe UI"/>
              </a:defRPr>
            </a:pPr>
            <a:r>
              <a:t>AWS DMS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78024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55117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56946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F0"/>
                </a:solidFill>
                <a:latin typeface="Segoe UI"/>
              </a:defRPr>
            </a:pPr>
            <a:r>
              <a:t>Agent Remediation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58775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A78BFA"/>
                </a:solidFill>
                <a:latin typeface="Segoe UI"/>
              </a:defRPr>
            </a:pPr>
            <a:r>
              <a:t>OMA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08376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09981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F0"/>
                </a:solidFill>
                <a:latin typeface="Segoe UI"/>
              </a:defRPr>
            </a:pPr>
            <a:r>
              <a:t>Schema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311810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A78BFA"/>
                </a:solidFill>
                <a:latin typeface="Segoe UI"/>
              </a:defRPr>
            </a:pPr>
            <a:r>
              <a:t>OMA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8444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99BB"/>
                </a:solidFill>
                <a:latin typeface="Segoe UI"/>
              </a:defRPr>
            </a:pPr>
            <a:r>
              <a:t>DATA REPLICATION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813048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8862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999B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904487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DMS Replication 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92277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999BB"/>
                </a:solidFill>
                <a:latin typeface="Segoe UI"/>
              </a:defRPr>
            </a:pPr>
            <a:r>
              <a:t>AWS DMS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343400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4165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999BB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434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Full Load &amp; CDC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45312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999BB"/>
                </a:solidFill>
                <a:latin typeface="Segoe UI"/>
              </a:defRPr>
            </a:pPr>
            <a:r>
              <a:t>AWS DMS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0" y="1143000"/>
            <a:ext cx="5852160" cy="29260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80" y="1325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AI Agent Retry Flow (5/9)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169164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Assessment 결과: 변환 완료 / 실패 (2개 상태만)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7880" y="1911095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5897880" y="213055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실패 항목 → AI 에이전트 리트라이: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235000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Discovery → Schema Architect → Code Migrator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256946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→ QA Verifier → Evaluator (GO/NO-GO)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278892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5897880" y="300837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리트라이 초과 → 최종 실패 → 수동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80" y="322783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Evaluator 임계점수: 기본 80 (설정 변경 가능)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0" y="4251960"/>
            <a:ext cx="5852160" cy="15544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44348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AWS DMS vs OMA 확장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97880" y="480060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Pre-Assessment, Schema Conversion → DMS 네이티브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502005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Agent Remediation, Validation → OMA 확장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97880" y="523951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UI에서 배지로 출처 구분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앱 마이그레이션 워크플로우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MyBatis SQL 변환 7단계 | 런타임 로그 수집 + AI 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0759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7E8F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075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Mapper 탐색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3258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BB"/>
                </a:solidFill>
                <a:latin typeface="Segoe UI"/>
              </a:defRPr>
            </a:pPr>
            <a:r>
              <a:t>XML 구조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37944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DE068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91109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SQL 추출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92938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BB"/>
                </a:solidFill>
                <a:latin typeface="Segoe UI"/>
              </a:defRPr>
            </a:pPr>
            <a:r>
              <a:t>정적 + 런타임 로그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441448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514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7E8F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514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SQL 필터링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53288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BB"/>
                </a:solidFill>
                <a:latin typeface="Segoe UI"/>
              </a:defRPr>
            </a:pPr>
            <a:r>
              <a:t>35+ Oracle 패턴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44952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181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1181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쿼리 변환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13639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BB"/>
                </a:solidFill>
                <a:latin typeface="Segoe UI"/>
              </a:defRPr>
            </a:pPr>
            <a:r>
              <a:t>sqlglot + AI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48456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2160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B8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2160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수동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BB"/>
                </a:solidFill>
                <a:latin typeface="Segoe UI"/>
              </a:defRPr>
            </a:pPr>
            <a:r>
              <a:t>실패 SQL 수정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251960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32511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7E8F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32511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XML 병합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3434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BB"/>
                </a:solidFill>
                <a:latin typeface="Segoe UI"/>
              </a:defRPr>
            </a:pPr>
            <a:r>
              <a:t>Mapper 재조립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55464"/>
            <a:ext cx="5029200" cy="530352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9286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EE7B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92861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테스트 지원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9469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BB"/>
                </a:solidFill>
                <a:latin typeface="Segoe UI"/>
              </a:defRPr>
            </a:pPr>
            <a:r>
              <a:t>AOP 에러 수집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0" y="1234440"/>
            <a:ext cx="58521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14173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DE068"/>
                </a:solidFill>
                <a:latin typeface="Segoe UI Light"/>
              </a:defRPr>
            </a:pPr>
            <a:r>
              <a:t>런타임 로그 수집 (신규)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178308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AOP/Interceptor로 실제 실행 SQL 수집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200253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정적 추출로 잡히지 않는 비즈니스 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222199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로그 소스: AOP, stdout, S3, CloudWatch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0" y="3063240"/>
            <a:ext cx="5852160" cy="13716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324612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변환 예시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80" y="361188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NVL → COALESCE | DECODE → CASE WHEN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97880" y="383133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CONNECT BY → WITH RECURSIVE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405079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ROWNUM → LIMIT | (+) → LEFT JOIN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0" y="4617720"/>
            <a:ext cx="5852160" cy="11887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80" y="4800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B8B"/>
                </a:solidFill>
                <a:latin typeface="Segoe UI Light"/>
              </a:defRPr>
            </a:pPr>
            <a:r>
              <a:t>에러 복구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97880" y="5166359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Query Rewrite 실패 → Manual Review CTA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538581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수동 수정 후 XML 병합 → 테스트 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UX 개선 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워크플로우 가시성 | 온보딩 | 디자인 리뉴얼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워크플로우 위치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Step X/10 진행률 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4825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클릭으로 다른 단계 이동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8016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630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온보딩 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82880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첫 방문 시 3단계 설정 가이드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4825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필수 vs 선택 구분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마이그레이션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설정에서 테이블 조회/수정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4281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대시보드에 스코프 요약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3474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LiteLLM 디자인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023359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인디고 브랜드, 220px 사이드바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24281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13px 폰트, minimal shadow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47472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3657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B8B"/>
                </a:solidFill>
                <a:latin typeface="Segoe UI Light"/>
              </a:defRPr>
            </a:pPr>
            <a:r>
              <a:t>배지 가독성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023359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destructive 배지 대비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24281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라이트모드 foreground 수정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백엔드 갭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프론트 83개 API vs 백엔드 11개 → 72개 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21561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27401"/>
            <a:ext cx="2286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8B8B"/>
                </a:solidFill>
                <a:latin typeface="Segoe UI"/>
              </a:defRPr>
            </a:pPr>
            <a:r>
              <a:t>REST API 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280160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521561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27401"/>
            <a:ext cx="2286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DE068"/>
                </a:solidFill>
                <a:latin typeface="Segoe UI"/>
              </a:defRPr>
            </a:pPr>
            <a:r>
              <a:t>앱 마이그레이션</a:t>
            </a:r>
            <a:br/>
            <a:r>
              <a:t>전체 신규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80160"/>
            <a:ext cx="274320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21561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7401"/>
            <a:ext cx="2286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78BFA"/>
                </a:solidFill>
                <a:latin typeface="Segoe UI"/>
              </a:defRPr>
            </a:pPr>
            <a:r>
              <a:t>프로젝트 관리</a:t>
            </a:r>
            <a:br/>
            <a:r>
              <a:t>Mock 유지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280160"/>
            <a:ext cx="246888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1521561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 Light"/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527401"/>
            <a:ext cx="2011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7E8F9"/>
                </a:solidFill>
                <a:latin typeface="Segoe UI"/>
              </a:defRPr>
            </a:pPr>
            <a:r>
              <a:t>실시간</a:t>
            </a:r>
            <a:br/>
            <a:r>
              <a:t>스트림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4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03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DE068"/>
                </a:solidFill>
                <a:latin typeface="Segoe UI Light"/>
              </a:defRPr>
            </a:pPr>
            <a:r>
              <a:t>노력 추정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690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P0 필수:  26일 (카탈로그, DMS, AI Agent, 앱 래퍼)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8853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P1 중요:  23일 (스키마 검증, 도구, 인프라)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50799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P2 보조:   7일 (프로젝트 서버 저장소)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72744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85800" y="4946904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총 56일 = ~11주(1명) / ~7주(2명)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1663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85800" y="538581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최대 리스크: GAP-10 앱 마이그레이션 래퍼 (15일)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3520440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703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문서화 완료 (4개)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06908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docs/01-backend-analysis.md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28853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두 백엔드 현재 기능 상세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50799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docs/02-frontend-api-requirements.md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727448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프론트 필요 API 83개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946904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docs/03-gap-analysis.md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166360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GAP-00~21 +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38581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docs/04-integration-guide.md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605272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5단계 통합 가이드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통합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BB"/>
                </a:solidFill>
                <a:latin typeface="Segoe UI"/>
              </a:defRPr>
            </a:pPr>
            <a:r>
              <a:t>5단계 | 총 7주 (2인 기준)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7E8F9"/>
                </a:solidFill>
                <a:latin typeface="Segoe UI"/>
              </a:defRPr>
            </a:pPr>
            <a:r>
              <a:t>Phase 1 (1주)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3075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기반 구축 + 카탈로그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1848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API 클라이언트, 테이블 카탈로그,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0312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762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78BFA"/>
                </a:solidFill>
                <a:latin typeface="Segoe UI"/>
              </a:defRPr>
            </a:pPr>
            <a:r>
              <a:t>Phase 2 (2주)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1762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DB Migration 핵심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8716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DMS 파이프라인, Assessment, AI Agent (WS)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718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449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8B8B"/>
                </a:solidFill>
                <a:latin typeface="Segoe UI"/>
              </a:defRPr>
            </a:pPr>
            <a:r>
              <a:t>Phase 3 (2주)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0449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App Migration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558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FastAPI 래퍼 24 endpoint (최대 리스크)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DE068"/>
                </a:solidFill>
                <a:latin typeface="Segoe UI"/>
              </a:defRPr>
            </a:pPr>
            <a:r>
              <a:t>Phase 4 (1주)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9136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수동 검토 + 테스트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245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Manual Review, XML Merge, AOP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0916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823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999BB"/>
                </a:solidFill>
                <a:latin typeface="Segoe UI"/>
              </a:defRPr>
            </a:pPr>
            <a:r>
              <a:t>Phase 5 (1주)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7823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도구 +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9320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SQL 실행기, 로그, 보고서, KB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DE068"/>
                </a:solidFill>
                <a:latin typeface="Segoe UI"/>
              </a:defRPr>
            </a:pPr>
            <a:r>
              <a:t>▶ Phase 1 완료 시 첫 E2E 데모  |  ▶ Phase 3이 최대 리스크  |  ▶ Phase 4-5 병렬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 Light"/>
              </a:defRPr>
            </a:pPr>
            <a:r>
              <a:t>기술 스택 &amp; 산출물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React 18 + TypeScript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7393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Vite 8 (빌드 &lt; 1초)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9339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Tailwind CSS v4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128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React Router v6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3230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Recharts (차트)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517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Lucide React (아이콘)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00584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188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 Light"/>
              </a:defRPr>
            </a:pPr>
            <a: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554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OMA_Strands_Graph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77393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FastAPI + Strands SDK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9339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strands-oracle-migration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2128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CLI + sqlglot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43230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AI: Bedrock (Claude)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65176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Runtime: AgentCore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005840"/>
            <a:ext cx="3474720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188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Deliverables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155448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25개 페이지 프론트엔드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77393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프로젝트 관리 + 기능 토글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199339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마이그레이션 스코프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21284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4개 통합 문서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43230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GitHub Repo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31920"/>
            <a:ext cx="1106424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11480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7E8F9"/>
                </a:solidFill>
                <a:latin typeface="Segoe UI Light"/>
              </a:defRPr>
            </a:pPr>
            <a:r>
              <a:t>Infrastructure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480559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ECS Fargate: 백엔드 2개  |  ALB: path-based routing  |  S3 + CloudFront: 프론트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700016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DMS: Schema Conversion + Data Replication  |  Bedrock + AgentCore: 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919472"/>
            <a:ext cx="10607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Oracle RDS (소스)  |  PostgreSQL RDS (타겟)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914400"/>
            <a:ext cx="5486400" cy="5486400"/>
          </a:xfrm>
          <a:prstGeom prst="ellipse">
            <a:avLst/>
          </a:prstGeom>
          <a:solidFill>
            <a:srgbClr val="6B21A8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2743200"/>
            <a:ext cx="6400800" cy="4572000"/>
          </a:xfrm>
          <a:prstGeom prst="ellipse">
            <a:avLst/>
          </a:prstGeom>
          <a:solidFill>
            <a:srgbClr val="1E3A5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0" y="-1828800"/>
            <a:ext cx="4572000" cy="3657600"/>
          </a:xfrm>
          <a:prstGeom prst="ellipse">
            <a:avLst/>
          </a:prstGeom>
          <a:solidFill>
            <a:srgbClr val="3B096B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457200"/>
            <a:ext cx="6400800" cy="5669280"/>
          </a:xfrm>
          <a:prstGeom prst="roundRect">
            <a:avLst>
              <a:gd name="adj" fmla="val 6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Segoe UI Light"/>
              </a:defRPr>
            </a:pPr>
            <a:r>
              <a:t>Q &amp;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999BB"/>
                </a:solidFill>
                <a:latin typeface="Segoe UI Light"/>
              </a:defRPr>
            </a:pPr>
            <a:r>
              <a:t>질문 및 논의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457200"/>
            <a:ext cx="4023360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6400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EE7B7"/>
                </a:solidFill>
                <a:latin typeface="Segoe UI Light"/>
              </a:defRPr>
            </a:pPr>
            <a:r>
              <a:t>Immediate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00584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1. Phase 1 착수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225296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 API 클라이언트 + 카탈로그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44475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2. OMA_Strands_Graph 수정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6420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 프론트 전용 endpoint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88366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3. FastAPI 래퍼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10312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 strands-oracle-migration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37560"/>
            <a:ext cx="4023360" cy="2788920"/>
          </a:xfrm>
          <a:prstGeom prst="roundRect">
            <a:avLst>
              <a:gd name="adj" fmla="val 6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2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352044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DE068"/>
                </a:solidFill>
                <a:latin typeface="Segoe UI Light"/>
              </a:defRPr>
            </a:pPr>
            <a:r>
              <a:t>Discussion 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88620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프로젝트 관리: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4105656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localStorage vs 서버?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432511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FastAPI 래퍼: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4544568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담당 팀/리소스?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764024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배포: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983480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CloudFront vs ECS?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5202936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인증: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5422392"/>
            <a:ext cx="3566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F0"/>
                </a:solidFill>
                <a:latin typeface="Segoe UI"/>
              </a:defRPr>
            </a:pPr>
            <a:r>
              <a:t>  Cognito / IAM IdC?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