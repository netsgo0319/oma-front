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7315200" cy="5760720"/>
          </a:xfrm>
          <a:prstGeom prst="roundRect">
            <a:avLst>
              <a:gd name="adj" fmla="val 625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Inter"/>
              </a:defRPr>
            </a:pPr>
            <a:r>
              <a:t>Oracle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8FF3B"/>
                </a:solidFill>
                <a:latin typeface="Inter"/>
              </a:defRPr>
            </a:pPr>
            <a:r>
              <a:t>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Inter"/>
              </a:defRPr>
            </a:pPr>
            <a:r>
              <a:t>WebUI v2 — 현황 및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  <a:latin typeface="Inter"/>
              </a:defRPr>
            </a:pPr>
            <a:r>
              <a:t>Oracle→PostgreSQL 마이그레이션을 가속하는 통합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572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731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Inter"/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Inter"/>
              </a:defRPr>
            </a:pPr>
            <a:r>
              <a:t>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3774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E8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Inter"/>
              </a:defRPr>
            </a:pPr>
            <a: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Inter"/>
              </a:defRPr>
            </a:pPr>
            <a:r>
              <a:t>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29768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4585716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449824"/>
            <a:ext cx="3200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CCC"/>
                </a:solidFill>
                <a:latin typeface="Inter"/>
              </a:defRPr>
            </a:pPr>
            <a:r>
              <a:t>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왜 OMA WebUI가 필요한가?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Oracle→PostgreSQL 마이그레이션의 자동화 과제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819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FF3B"/>
                </a:solidFill>
                <a:latin typeface="Inter"/>
              </a:defRPr>
            </a:pPr>
            <a:r>
              <a:t>65%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Inter"/>
              </a:defRPr>
            </a:pPr>
            <a:r>
              <a:t>DMS 자동 변환율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28016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나머지 35%는?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DDD"/>
                </a:solidFill>
                <a:latin typeface="Inter"/>
              </a:defRPr>
            </a:pPr>
            <a:r>
              <a:t>AI 에이전트로 ~30% 추가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842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DDD"/>
                </a:solidFill>
                <a:latin typeface="Inter"/>
              </a:defRPr>
            </a:pPr>
            <a:r>
              <a:t>수동 검토로 최종 ~5%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854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DDD"/>
                </a:solidFill>
                <a:latin typeface="Inter"/>
              </a:defRPr>
            </a:pPr>
            <a:r>
              <a:t>PL/SQL, DBMS_SQL 등 복잡 구문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28016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463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앱 마이그레이션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7830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5522"/>
                </a:solidFill>
                <a:latin typeface="Inter"/>
              </a:defRPr>
            </a:pPr>
            <a:r>
              <a:t>MyBatis XML 내 Oracle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9842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5522"/>
                </a:solidFill>
                <a:latin typeface="Inter"/>
              </a:defRPr>
            </a:pPr>
            <a:r>
              <a:t>수백~수천 건 변환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854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5522"/>
                </a:solidFill>
                <a:latin typeface="Inter"/>
              </a:defRPr>
            </a:pPr>
            <a:r>
              <a:t>별도 도구/프로세스 부재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29000"/>
            <a:ext cx="11155680" cy="2651760"/>
          </a:xfrm>
          <a:prstGeom prst="roundRect">
            <a:avLst>
              <a:gd name="adj" fmla="val 4098"/>
            </a:avLst>
          </a:prstGeom>
          <a:solidFill>
            <a:srgbClr val="F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해결: 3단계 통합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85800" y="4133087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① DB 스키마 변환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DMS SC + AI Agent</a:t>
            </a:r>
            <a:br/>
            <a:r>
              <a:t>스키마/프로시저/함수 변환</a:t>
            </a:r>
            <a:br/>
            <a:r>
              <a:t>Assessment → 리트라이 → 검증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40233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160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② 앱 SQL 변환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526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MyBatis XML 파싱</a:t>
            </a:r>
            <a:br/>
            <a:r>
              <a:t>sqlglot + AI 폴백</a:t>
            </a:r>
            <a:br/>
            <a:r>
              <a:t>런타임 로그 수집 → 병합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40233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160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③ 데이터 복제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526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DMS Full Load + CDC</a:t>
            </a:r>
            <a:br/>
            <a:r>
              <a:t>테이블별 진행률 추적</a:t>
            </a:r>
            <a:br/>
            <a:r>
              <a:t>원본↔대상 데이터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Frontend ←→ ALB ←→ 2 Backends ←→ AWS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F3B"/>
                </a:solidFill>
                <a:latin typeface="Inter"/>
              </a:defRPr>
            </a:pPr>
            <a:r>
              <a:t>OMA WebUI (Frontend)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React 18 + TypeScript + Vite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84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Tailwind CSS v4 (LiteLLM 디자인)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85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25 Pages | 3 Preset | Mock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86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React Router: / → /project/:id/*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80160"/>
            <a:ext cx="1280160" cy="201168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Inter"/>
              </a:defRPr>
            </a:pPr>
            <a:r>
              <a:t>ALB</a:t>
            </a:r>
            <a:br/>
            <a:r>
              <a:t>path</a:t>
            </a:r>
            <a:br/>
            <a:r>
              <a:t>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801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46303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Inter"/>
              </a:defRPr>
            </a:pPr>
            <a:r>
              <a:t>OMA_Strands_Graph :8000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78308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FastAPI + Strands SDK | 9 Agents | 11 REST + 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3317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5146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Inter"/>
              </a:defRPr>
            </a:pPr>
            <a:r>
              <a:t>strands-oracle-migration :8001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834639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CLI only → FastAPI 래퍼 필요 | 5 Agents + sqlglot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AWS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7763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Bedrock (Claude Sonnet)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7880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AgentCore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79975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DMS Schema Conversion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4747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97763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ECS Fargate (백엔드 2개)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17880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S3 + CloudFront (프론트)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379975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ALB (path-based routing)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4747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의사결정: BFF 미채택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97763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BFF 대신 백엔드 직접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17880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개발 속도 ↑, 인프라 비용 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379975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API 클라이언트가 추상화 담당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7B"/>
                </a:solidFill>
                <a:latin typeface="Inter"/>
              </a:defRPr>
            </a:pPr>
            <a:r>
              <a:t>/api/db-* → :8000  |  /api/app-* → :8001  |  / → S3 (React SPA)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프로젝트 관리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멀티 프로젝트 + 테이블 스코프 선택 + 독립 환경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7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FF3B"/>
                </a:solidFill>
                <a:latin typeface="Inter"/>
              </a:defRPr>
            </a:pPr>
            <a:r>
              <a:t>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16352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Inter"/>
              </a:defRPr>
            </a:pPr>
            <a:r>
              <a:t>프로젝트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Inter"/>
              </a:defRPr>
            </a:pPr>
            <a:r>
              <a:t>카드 그리드</a:t>
            </a:r>
            <a:br/>
            <a:r>
              <a:t>프로젝트별 진행률</a:t>
            </a:r>
            <a:br/>
            <a:r>
              <a:t>생성/복제/삭제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B6B7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8016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463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Step 1: 기본 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프로젝트 이름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842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기능 프리셋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854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Basic / Standard / Advanced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865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709160" y="25877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Step 2: 테이블 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8892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전체 / 스키마 / 개별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B6B7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280160"/>
            <a:ext cx="3108960" cy="256032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4630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/project/:id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78308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독립 설정 (DB, DMS)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98424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독립 기능 토글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18541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독립 마이그레이션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3865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독립 사이드바 메뉴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11155680" cy="182880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마이그레이션 스코프 예시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6344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Inter"/>
              </a:defRPr>
            </a:pPr>
            <a:r>
              <a:t>프로젝트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Inter"/>
              </a:defRPr>
            </a:pPr>
            <a:r>
              <a:t>HR + 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15개 테이블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66344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Inter"/>
              </a:defRPr>
            </a:pPr>
            <a:r>
              <a:t>프로젝트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029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Inter"/>
              </a:defRPr>
            </a:pPr>
            <a:r>
              <a:t>FIN + INV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257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13개 테이블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466344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Inter"/>
              </a:defRPr>
            </a:pPr>
            <a:r>
              <a:t>프로젝트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29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Inter"/>
              </a:defRPr>
            </a:pPr>
            <a:r>
              <a:t>CRM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257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6개 테이블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66344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Inter"/>
              </a:defRPr>
            </a:pPr>
            <a:r>
              <a:t>프로젝트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5029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Inter"/>
              </a:defRPr>
            </a:pPr>
            <a:r>
              <a:t>COMMON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5257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3개 테이블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기능 토글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3단계 프리셋으로 사용자 수준별 UI 최적화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306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5544"/>
                </a:solidFill>
                <a:latin typeface="Inter"/>
              </a:defRPr>
            </a:pPr>
            <a:r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입문자 / POC용</a:t>
            </a:r>
            <a:br/>
            <a:r>
              <a:t>필수 기능만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2306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FF3B"/>
                </a:solidFill>
                <a:latin typeface="Inter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6517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Inter"/>
              </a:defRPr>
            </a:pPr>
            <a:r>
              <a:t>Standard (기본값)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Inter"/>
              </a:defRPr>
            </a:pPr>
            <a:r>
              <a:t>일반 마이그레이션</a:t>
            </a:r>
            <a:br/>
            <a:r>
              <a:t>필수 + 디버깅 도구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28016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2306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Inter"/>
              </a:defRPr>
            </a:pPr>
            <a: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6517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CCC"/>
                </a:solidFill>
                <a:latin typeface="Inter"/>
              </a:defRPr>
            </a:pPr>
            <a:r>
              <a:t>Advanced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CCCC"/>
                </a:solidFill>
                <a:latin typeface="Inter"/>
              </a:defRPr>
            </a:pPr>
            <a:r>
              <a:t>전문가용</a:t>
            </a:r>
            <a:br/>
            <a:r>
              <a:t>모든 기능 활성화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동작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설정 &gt; 기능 관리에서 프리셋 선택 또는 개별 토글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445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비활성 기능: 사이드바에서 자동 숨김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457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URL 직접 접속 시 안내 페이지 + 원클릭 활성화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4690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목적: "기능이 너무 많아 헷갈린다" 해결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84048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F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카테고리별 분류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3434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DB Migration: 5개 (Core 4 + Optional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54456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App Migration: 7개 (Core 4 + Optional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74573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Data Migration: 2개 (Core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946903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Tools: 5개 (전부 Optional)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48071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Settings 내부: 3개 (전부 Optional)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DB 마이그레이션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DMS + AI 에이전트 협업 | AWS DMS vs OMA 확장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Inter"/>
              </a:defRPr>
            </a:pPr>
            <a:r>
              <a:t>SCHEMA CONVERSION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Inter"/>
              </a:defRPr>
            </a:pPr>
            <a:r>
              <a:t>Pre-Assessment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45919"/>
            <a:ext cx="786384" cy="22860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A1A1A"/>
                </a:solidFill>
                <a:latin typeface="Inter"/>
              </a:defRPr>
            </a:pPr>
            <a:r>
              <a:t>AWS DMS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Inter"/>
              </a:defRPr>
            </a:pPr>
            <a:r>
              <a:t>Schema Conversion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240279"/>
            <a:ext cx="786384" cy="22860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A1A1A"/>
                </a:solidFill>
                <a:latin typeface="Inter"/>
              </a:defRPr>
            </a:pPr>
            <a:r>
              <a:t>AWS DMS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79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07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Inter"/>
              </a:defRPr>
            </a:pPr>
            <a:r>
              <a:t>Agent Remediation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834639"/>
            <a:ext cx="493776" cy="228600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A1A1A"/>
                </a:solidFill>
                <a:latin typeface="Inter"/>
              </a:defRPr>
            </a:pPr>
            <a:r>
              <a:t>OMA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39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01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Inter"/>
              </a:defRPr>
            </a:pPr>
            <a:r>
              <a:t>Schema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428999"/>
            <a:ext cx="493776" cy="228600"/>
          </a:xfrm>
          <a:prstGeom prst="roundRect">
            <a:avLst>
              <a:gd name="adj" fmla="val 50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A1A1A"/>
                </a:solidFill>
                <a:latin typeface="Inter"/>
              </a:defRPr>
            </a:pPr>
            <a:r>
              <a:t>OMA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6B7B"/>
                </a:solidFill>
                <a:latin typeface="Inter"/>
              </a:defRPr>
            </a:pPr>
            <a:r>
              <a:t>DATA REPLICATION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06240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976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6B7B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DMS Replication Setup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4343400"/>
            <a:ext cx="786384" cy="228600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A1A1A"/>
                </a:solidFill>
                <a:latin typeface="Inter"/>
              </a:defRPr>
            </a:pPr>
            <a:r>
              <a:t>AWS DMS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00600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92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6B7B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910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Full Load &amp; CDC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4937760"/>
            <a:ext cx="786384" cy="228600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A1A1A"/>
                </a:solidFill>
                <a:latin typeface="Inter"/>
              </a:defRPr>
            </a:pPr>
            <a:r>
              <a:t>AWS DMS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1188720"/>
            <a:ext cx="5943600" cy="292608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F3B"/>
                </a:solidFill>
                <a:latin typeface="Inter"/>
              </a:defRPr>
            </a:pPr>
            <a:r>
              <a:t>AI Agent Retry Flow (5/9 에이전트)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16916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Assessment 결과: 변환 완료 / 실패 (2개 상태만)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18928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897880" y="209397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실패 항목 → AI 에이전트 리트라이: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29514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  Discovery → Schema Architect → Code Migrator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24963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  → QA Verifier → Evaluator (GO/NO-GO)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6974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5897880" y="28986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리트라이 횟수 초과 → 최종 실패 → 수동 검토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0998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Evaluator 임계점수: 기본 80 (설정 변경 가능)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4297680"/>
            <a:ext cx="5943600" cy="16459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AWS DMS vs OMA 확장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4800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Pre-Assessment, Schema Conversion → AWS DMS 네이티브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50017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Agent Remediation, Validation → OMA 확장 기능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52029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UI에서 배지로 출처 구분 (파란=DMS, 주황=OMA)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앱 마이그레이션 워크플로우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MyBatis SQL 변환 7단계 | 런타임 로그 수집 + AI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Mapper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Inter"/>
              </a:defRPr>
            </a:pPr>
            <a:r>
              <a:t>XML 구조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280160"/>
            <a:ext cx="3474720" cy="1188720"/>
          </a:xfrm>
          <a:prstGeom prst="roundRect">
            <a:avLst>
              <a:gd name="adj" fmla="val 8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4173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6459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SQL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Inter"/>
              </a:defRPr>
            </a:pPr>
            <a:r>
              <a:t>정적 + 런타임 로그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280160"/>
            <a:ext cx="40233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4173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6459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SQL 필터링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Inter"/>
              </a:defRPr>
            </a:pPr>
            <a:r>
              <a:t>35+ Oracle 패턴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5212080" cy="118872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Inter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71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F3B"/>
                </a:solidFill>
                <a:latin typeface="Inter"/>
              </a:defRPr>
            </a:pPr>
            <a:r>
              <a:t>쿼리 변환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Inter"/>
              </a:defRPr>
            </a:pPr>
            <a:r>
              <a:t>sqlglot + AI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6060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DDD"/>
                </a:solidFill>
                <a:latin typeface="Inter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수동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DDD"/>
                </a:solidFill>
                <a:latin typeface="Inter"/>
              </a:defRPr>
            </a:pPr>
            <a:r>
              <a:t>실패 SQL 수정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260604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743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971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XML 병합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337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Inter"/>
              </a:defRPr>
            </a:pPr>
            <a:r>
              <a:t>Mapper 재조립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34747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테스트 지원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Inter"/>
              </a:defRPr>
            </a:pPr>
            <a:r>
              <a:t>AOP 에러 수집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393192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런타임 로그 수집 (신규)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44348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AOP/Interceptor로 서버 로그에서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636007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실제 실행된 MyBatis SQL 수집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483717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정적 추출 + 런타임 수집 = 완전한 커버리지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93192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114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Inter"/>
              </a:defRPr>
            </a:pPr>
            <a:r>
              <a:t>에러 복구 경로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4348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Query Rewrite 실패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636007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→ Manual Review CTA 버튼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837175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→ 수동 수정 후 XML 병합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038343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→ 테스트 검증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UX 개선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사용자 혼란 요소 제거 | 워크플로우 가시성 | 디자인 리뉴얼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워크플로우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Step X/10 진행률 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84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클릭으로 다른 단계 이동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630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온보딩 모달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첫 방문 시 3단계 설정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8424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필수 vs 선택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마이그레이션 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설정에서 테이블 조회/수정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3308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대시보드에 스코프 요약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4290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LiteLLM 디자인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인디고 브랜드, 220px 사이드바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3308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13px 폰트, minimal shadow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34290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배지 수정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931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destructive 배지 텍스트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13308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가독성 수정 (대비 개선)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백엔드 갭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프론트엔드 83개 API 요구 vs 백엔드 11개 제공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8191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B6B"/>
                </a:solidFill>
                <a:latin typeface="Inter"/>
              </a:defRPr>
            </a:pPr>
            <a: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Inter"/>
              </a:defRPr>
            </a:pPr>
            <a:r>
              <a:t>REST API 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58191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Inter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487168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DDD"/>
                </a:solidFill>
                <a:latin typeface="Inter"/>
              </a:defRPr>
            </a:pPr>
            <a:r>
              <a:t>앱 마이그레이션</a:t>
            </a:r>
            <a:br/>
            <a:r>
              <a:t>전체 신규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8191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Inter"/>
              </a:defRPr>
            </a:pPr>
            <a: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87168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4411"/>
                </a:solidFill>
                <a:latin typeface="Inter"/>
              </a:defRPr>
            </a:pPr>
            <a:r>
              <a:t>프로젝트 관리</a:t>
            </a:r>
            <a:br/>
            <a:r>
              <a:t>Mock 유지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8016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581912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487168"/>
            <a:ext cx="2194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5544"/>
                </a:solidFill>
                <a:latin typeface="Inter"/>
              </a:defRPr>
            </a:pPr>
            <a:r>
              <a:t>실시간 스트림</a:t>
            </a:r>
            <a:br/>
            <a:r>
              <a:t>부분 매칭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F3B"/>
                </a:solidFill>
                <a:latin typeface="Inter"/>
              </a:defRPr>
            </a:pPr>
            <a:r>
              <a:t>노력 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P0 필수:  26일 (카탈로그, DMS, AI Agent, 앱 래퍼)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78807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P1 중요:  23일 (스키마 검증, 도구, 인프라)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79975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P2 보조:   7일 (프로젝트 서버 저장소)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8114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85800" y="4782311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총 56일 = ~11주 (1명) / ~7주 (2명)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8347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85800" y="5184647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최대 리스크: GAP-10 앱 마이그레이션 FastAPI 래퍼 (15일)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474720"/>
            <a:ext cx="55778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문서화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977639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docs/01-backend-analysis.md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178807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  → 두 백엔드 현재 기능 상세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379975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docs/02-frontend-api-requirements.md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81143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  → 프론트 필요 API 83개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782311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docs/03-gap-analysis.md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983479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  → GAP-00~21 상세 + 판단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184647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docs/04-integration-guide.md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385815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  → 5단계 통합 가이드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통합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Inter"/>
              </a:defRPr>
            </a:pPr>
            <a:r>
              <a:t>5단계 통합 계획 | 총 7주 (2인 기준)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155680" cy="822960"/>
          </a:xfrm>
          <a:prstGeom prst="roundRect">
            <a:avLst>
              <a:gd name="adj" fmla="val 4098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898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Inter"/>
              </a:defRPr>
            </a:pPr>
            <a:r>
              <a:t>1주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Inter"/>
              </a:defRPr>
            </a:pPr>
            <a:r>
              <a:t>기반 구축 + 카탈로그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API 클라이언트, 테이블 카탈로그,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11155680" cy="822960"/>
          </a:xfrm>
          <a:prstGeom prst="roundRect">
            <a:avLst>
              <a:gd name="adj" fmla="val 4098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3042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Inter"/>
              </a:defRPr>
            </a:pPr>
            <a:r>
              <a:t>2주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04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DB Migration 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Inter"/>
              </a:defRPr>
            </a:pPr>
            <a:r>
              <a:t>DMS 파이프라인, Assessment, AI Agent (WS)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1155680" cy="822960"/>
          </a:xfrm>
          <a:prstGeom prst="roundRect">
            <a:avLst>
              <a:gd name="adj" fmla="val 4098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18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DDD"/>
                </a:solidFill>
                <a:latin typeface="Inter"/>
              </a:defRPr>
            </a:pPr>
            <a:r>
              <a:t>2주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18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App Migration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66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DDD"/>
                </a:solidFill>
                <a:latin typeface="Inter"/>
              </a:defRPr>
            </a:pPr>
            <a:r>
              <a:t>FastAPI 래퍼 24개 endpoint (최대 리스크)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11155680" cy="822960"/>
          </a:xfrm>
          <a:prstGeom prst="roundRect">
            <a:avLst>
              <a:gd name="adj" fmla="val 4098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133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Inter"/>
              </a:defRPr>
            </a:pPr>
            <a:r>
              <a:t>1주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133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Inter"/>
              </a:defRPr>
            </a:pPr>
            <a:r>
              <a:t>수동 검토 +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Manual Review, XML Merge, AOP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155680" cy="822960"/>
          </a:xfrm>
          <a:prstGeom prst="roundRect">
            <a:avLst>
              <a:gd name="adj" fmla="val 4098"/>
            </a:avLst>
          </a:prstGeom>
          <a:solidFill>
            <a:srgbClr val="E8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Inter"/>
              </a:defRPr>
            </a:pPr>
            <a: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047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Inter"/>
              </a:defRPr>
            </a:pPr>
            <a:r>
              <a:t>1주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047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Inter"/>
              </a:defRPr>
            </a:pPr>
            <a:r>
              <a:t>도구 +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94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SQL 실행기, 로그, 보고서, KB, 설정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Inter"/>
              </a:defRPr>
            </a:pPr>
            <a:r>
              <a:t>▶ Phase 1 완료 시 첫 E2E 데모  |  ▶ Phase 3이 최대 리스크  |  ▶ Phase 4-5는 병렬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Inter"/>
              </a:defRPr>
            </a:pPr>
            <a:r>
              <a:t>기술 스택 &amp; 산출물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Inter"/>
              </a:defRPr>
            </a:pPr>
            <a:r>
              <a:t>React 18 +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099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Inter"/>
              </a:defRPr>
            </a:pPr>
            <a:r>
              <a:t>Vite 8 (빌드 &lt; 1초)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110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Inter"/>
              </a:defRPr>
            </a:pPr>
            <a:r>
              <a:t>Tailwind CSS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12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Inter"/>
              </a:defRPr>
            </a:pPr>
            <a:r>
              <a:t>React Router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Inter"/>
              </a:defRPr>
            </a:pPr>
            <a:r>
              <a:t>Recharts (차트)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Inter"/>
              </a:defRPr>
            </a:pPr>
            <a:r>
              <a:t>Lucide React (아이콘)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Inter"/>
              </a:defRPr>
            </a:pPr>
            <a:r>
              <a:t>shadcn/ui 스타일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0584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OMA_Strands_Graph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099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  FastAPI + Strands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110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strands-oracle-migration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12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  Python CLI + sqlglot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134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AI: Bedrock (Claude Sonnet)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146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Inter"/>
              </a:defRPr>
            </a:pPr>
            <a:r>
              <a:t>Runtime: AgentCore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00584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E8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1508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11"/>
                </a:solidFill>
                <a:latin typeface="Inter"/>
              </a:defRPr>
            </a:pPr>
            <a:r>
              <a:t>25개 페이지 프론트엔드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17099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11"/>
                </a:solidFill>
                <a:latin typeface="Inter"/>
              </a:defRPr>
            </a:pPr>
            <a:r>
              <a:t>프로젝트 관리 + 기능 토글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19110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11"/>
                </a:solidFill>
                <a:latin typeface="Inter"/>
              </a:defRPr>
            </a:pPr>
            <a:r>
              <a:t>마이그레이션 스코프 선택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112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11"/>
                </a:solidFill>
                <a:latin typeface="Inter"/>
              </a:defRPr>
            </a:pPr>
            <a:r>
              <a:t>AWS 정합성 보정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3134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11"/>
                </a:solidFill>
                <a:latin typeface="Inter"/>
              </a:defRPr>
            </a:pPr>
            <a:r>
              <a:t>4개 통합 문서 (docs/)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5146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11"/>
                </a:solidFill>
                <a:latin typeface="Inter"/>
              </a:defRPr>
            </a:pPr>
            <a:r>
              <a:t>GitHub Private Repo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11155680" cy="1920240"/>
          </a:xfrm>
          <a:prstGeom prst="roundRect">
            <a:avLst>
              <a:gd name="adj" fmla="val 4098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14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ECS Fargate: 백엔드 2개  |  ALB: path-based routing  |  S3 + CloudFront: 프론트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636007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DMS: Schema Conversion + Data Replication  |  Bedrock + AgentCore: AI 에이전트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37175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Oracle RDS (소스)  |  PostgreSQL RDS (타겟)  |  DynamoDB (선택: 프로젝트 저장소)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6858000" cy="5760720"/>
          </a:xfrm>
          <a:prstGeom prst="roundRect">
            <a:avLst>
              <a:gd name="adj" fmla="val 6666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Inter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Inter"/>
              </a:defRPr>
            </a:pPr>
            <a:r>
              <a:t>질문 및 논의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457200"/>
            <a:ext cx="4114800" cy="274320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Immediate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9601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1. Phase 1 착수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1612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   API 클라이언트 + 카탈로그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36245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2. OMA_Strands_Graph 수정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56362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   프론트 전용 endpoint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7647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3. FastAPI 래퍼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9659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5544"/>
                </a:solidFill>
                <a:latin typeface="Inter"/>
              </a:defRPr>
            </a:pPr>
            <a:r>
              <a:t>   strands-oracle-migration 래핑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337560"/>
            <a:ext cx="4114800" cy="2880360"/>
          </a:xfrm>
          <a:prstGeom prst="roundRect">
            <a:avLst>
              <a:gd name="adj" fmla="val 8000"/>
            </a:avLst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Inter"/>
              </a:defRPr>
            </a:pPr>
            <a:r>
              <a:t>Discussion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840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프로젝트 관리: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0416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  localStorage vs 서버 저장소?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24281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FastAPI 래퍼: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44398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  담당 팀/리소스 할당?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64515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배포 환경: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84631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  CloudFront + S3 vs ECS?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047487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인증: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24865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4411"/>
                </a:solidFill>
                <a:latin typeface="Inter"/>
              </a:defRPr>
            </a:pPr>
            <a:r>
              <a:t>  Cognito / IAM Identity Center?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